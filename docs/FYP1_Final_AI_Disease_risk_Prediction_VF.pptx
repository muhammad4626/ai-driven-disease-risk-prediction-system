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34"/>
  </p:notesMasterIdLst>
  <p:sldIdLst>
    <p:sldId id="256" r:id="rId3"/>
    <p:sldId id="257" r:id="rId4"/>
    <p:sldId id="289" r:id="rId5"/>
    <p:sldId id="258" r:id="rId6"/>
    <p:sldId id="287" r:id="rId7"/>
    <p:sldId id="273" r:id="rId8"/>
    <p:sldId id="291" r:id="rId9"/>
    <p:sldId id="283" r:id="rId10"/>
    <p:sldId id="282" r:id="rId11"/>
    <p:sldId id="281" r:id="rId12"/>
    <p:sldId id="284" r:id="rId13"/>
    <p:sldId id="293" r:id="rId14"/>
    <p:sldId id="294" r:id="rId15"/>
    <p:sldId id="292" r:id="rId16"/>
    <p:sldId id="295" r:id="rId17"/>
    <p:sldId id="296" r:id="rId18"/>
    <p:sldId id="298" r:id="rId19"/>
    <p:sldId id="300" r:id="rId20"/>
    <p:sldId id="276" r:id="rId21"/>
    <p:sldId id="301" r:id="rId22"/>
    <p:sldId id="302" r:id="rId23"/>
    <p:sldId id="278" r:id="rId24"/>
    <p:sldId id="304" r:id="rId25"/>
    <p:sldId id="286" r:id="rId26"/>
    <p:sldId id="305" r:id="rId27"/>
    <p:sldId id="259" r:id="rId28"/>
    <p:sldId id="277" r:id="rId29"/>
    <p:sldId id="285" r:id="rId30"/>
    <p:sldId id="290" r:id="rId31"/>
    <p:sldId id="275" r:id="rId32"/>
    <p:sldId id="288" r:id="rId33"/>
  </p:sldIdLst>
  <p:sldSz cx="12192000" cy="6858000"/>
  <p:notesSz cx="6858000" cy="9144000"/>
  <p:embeddedFontLst>
    <p:embeddedFont>
      <p:font typeface="Century Schoolbook" panose="02040604050505020304" pitchFamily="18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uYmirk5ZjUoGMX0THSvoz4vYn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28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customschemas.google.com/relationships/presentationmetadata" Target="meta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51:25.1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306 117 24575,'164'-7'0,"8"0"0,-101 3 0,134-23 0,-103 11 0,-46 6 0,-29 5 0,0 1 0,43-1 0,-26 6 0,-10 0 0,0-1 0,0-1 0,51-9 0,17-5 0,-73 11 0,-1 2 0,0 0 0,1 2 0,-1 2 0,0 0 0,1 2 0,36 10 0,-44-9 0,-10-2 0,-1 0 0,0-1 0,1 0 0,-1-1 0,14 1 0,-16-3 0,8 0 0,-1 1 0,1 0 0,-1 1 0,0 1 0,1 0 0,-1 1 0,22 8 0,44 26 0,-4-18 0,28 4 0,-78-17 0,-16-4 0,0 0 0,0 1 0,0 0 0,0 1 0,-1 0 0,0 0 0,0 1 0,0 1 0,17 12 0,-25-15 0,0 1 0,0-1 0,0 1 0,0 0 0,-1-1 0,1 1 0,-1 0 0,0 0 0,0 0 0,-1 1 0,1-1 0,-1 0 0,0 7 0,0-3 0,0 1 0,-1-1 0,0 1 0,0-1 0,-5 15 0,4-18 0,-1-1 0,0 1 0,-1-1 0,1 1 0,-1-1 0,0 0 0,0-1 0,0 1 0,0-1 0,-6 4 0,-26 25 0,32-27 0,-1-1 0,-1 1 0,1-1 0,-1 0 0,1-1 0,-1 1 0,0-1 0,-1 0 0,-11 4 0,-9 4 0,18-9 0,1 0 0,0 0 0,-1-1 0,1 0 0,-1-1 0,0 0 0,1 0 0,-14-2 0,-11 0 0,-140-12 0,128 8 0,0 2 0,-1 2 0,-64 5 0,72 1 0,0-1 0,1-2 0,-1-2 0,0-1 0,0-2 0,1-2 0,-59-16 0,71 16 0,-1 1 0,-1 2 0,-34-2 0,-2 1 0,-46-10 0,39 5 0,-86-1 0,113 8 0,0-2 0,0-2 0,-55-14 0,63 11 0,22 5 0,-1 0 0,1 1 0,-1 1 0,-27-1 0,9 2 0,1-2 0,0-1 0,0-2 0,0 0 0,-34-13 0,65 18 0,-1 1 0,0 0 0,0-1 0,1 1 0,-1 0 0,0 0 0,1 0 0,-1-1 0,0 1 0,0 0 0,0 0 0,1 0 0,-1 0 0,0 0 0,0 1 0,1-1 0,-1 0 0,0 0 0,0 0 0,1 1 0,-1-1 0,0 0 0,1 1 0,-1-1 0,0 0 0,1 1 0,-1-1 0,1 1 0,-1-1 0,1 1 0,-1 0 0,1-1 0,-1 1 0,1-1 0,-1 1 0,1 0 0,0-1 0,-1 1 0,1 0 0,0 0 0,0-1 0,-1 1 0,1 0 0,0 0 0,0-1 0,0 1 0,0 0 0,0 0 0,0-1 0,0 1 0,0 0 0,0 0 0,1-1 0,-1 2 0,2 9 0,0-1 0,0 1 0,6 13 0,-2-2 0,-4-8 0,-2-10 0,0-1 0,1 1 0,-1-1 0,1 0 0,0 1 0,0-1 0,0 1 0,2 4 0,-2-8 0,-1 1 0,0-1 0,1 1 0,-1-1 0,1 0 0,-1 1 0,1-1 0,-1 1 0,1-1 0,-1 0 0,1 0 0,-1 1 0,1-1 0,-1 0 0,1 0 0,-1 0 0,1 0 0,0 1 0,-1-1 0,1 0 0,0 0 0,21-9 0,-16 6 0,-1 0 0,1 1 0,1 0 0,-1 0 0,0 0 0,0 1 0,1 0 0,-1 0 0,9 0 0,61 4 0,-68-3 0,41 7 0,-32-4 0,-1-1 0,21 1 0,-13-5 0,0-1 0,0 0 0,0-2 0,0-1 0,44-17 0,-23 9 0,-28 10 0,-1-1 0,0-1 0,30-15 0,-29 11 0,0 2 0,0 1 0,1 0 0,0 1 0,22-5 0,-6 2 0,-4-1 0,0-1 0,-1-1 0,51-30 0,-18 13 0,-107 28 0,-63 0 0,-94 3 0,196-1 0,0 1 0,0 0 0,1 0 0,-1 0 0,0 1 0,1 0 0,0 0 0,0 0 0,-7 6 0,-21 12 0,21-16 0,-4 3 0,-1-1 0,0 0 0,-24 5 0,-115 16 0,127-25 0,-36-1 0,-25 3 0,53 2 0,-64 22 0,46-12 0,46-14 0,0 1 0,0 0 0,0 1 0,-13 8 0,-23 13 0,34-21 0,-37 13 0,45-17 0,-1-1 0,1 1 0,-1 0 0,0-1 0,1 1 0,-1-1 0,0 0 0,1-1 0,-1 1 0,1 0 0,-6-2 0,9 1-42,-1 1-1,0-1 0,1 1 1,-1-1-1,0 1 0,1-1 1,-1 1-1,1-1 0,-1 0 1,0 0-1,1 1 0,0-1 1,-1 0-1,1 0 0,-1 1 1,1-1-1,0 0 0,0 0 1,0 0-1,-1 1 0,1-1 1,0 0-1,0 0 0,0 0 1,0 0-1,0 0 0,0 1 1,0-1-1,1 0 0,-1 0 1,1-1-1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51:46.2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396 241 24575,'-15'-1'0,"0"-1"0,0 0 0,0-2 0,0 1 0,-21-10 0,28 10 0,0-1 0,1-1 0,-1 1 0,-12-11 0,-19-11 0,3 6 0,28 15 0,0 0 0,0 0 0,-1 1 0,0 0 0,0 0 0,0 1 0,-1 1 0,1-1 0,-1 1 0,-18-1 0,26 3 0,0 0 0,0 0 0,0 0 0,0 0 0,0-1 0,0 1 0,0 0 0,0-1 0,0 0 0,0 1 0,1-1 0,-1 0 0,0 0 0,0 0 0,1 0 0,-1 0 0,0-1 0,1 1 0,0 0 0,-1-1 0,-2-2 0,5 3 0,-1 1 0,0 0 0,0-1 0,1 1 0,-1 0 0,0-1 0,0 1 0,1 0 0,-1-1 0,0 1 0,1 0 0,-1 0 0,0-1 0,1 1 0,-1 0 0,1 0 0,-1 0 0,0 0 0,1 0 0,-1-1 0,1 1 0,-1 0 0,0 0 0,1 0 0,-1 0 0,1 0 0,-1 0 0,1 0 0,-1 0 0,0 1 0,1-1 0,-1 0 0,1 0 0,23 2 0,-20-2 0,115 3 0,18 2 0,-111-2 0,1-2 0,-1-1 0,43-5 0,40-19 0,-88 16 0,-13 5 0,-16 17 0,-7 13 0,13-22 0,-1-1 0,1 1 0,-1 0 0,0-1 0,0 0 0,-1 0 0,1 0 0,-1 0 0,0 0 0,0-1 0,-7 5 0,4-2 0,1-1 0,0 1 0,0 0 0,1 0 0,-1 1 0,1-1 0,0 1 0,1 0 0,-4 8 0,53-34 0,-3-1 0,-19 10 0,0-2 0,21-13 0,-39 21 0,1 1 0,0 1 0,0-1 0,0 1 0,1 0 0,10-2 0,-11 3 0,0-1 0,0 1 0,-1-1 0,1 0 0,0 0 0,-1-1 0,0 1 0,1-1 0,5-5 0,-6 4 0,0 1 0,1-1 0,0 1 0,-1 1 0,1-1 0,0 1 0,0 0 0,1 0 0,-1 0 0,0 1 0,0 0 0,1 1 0,-1-1 0,1 1 0,7 1 0,-2-1 0,-1-1 0,0 0 0,19-3 0,-16 0 0,0 1 0,0 1 0,1 1 0,22-1 0,2 1 0,64-12 0,-65 7 0,66-2 0,-43 9 0,80-2 0,-114-2 0,-7 1 0,1 0 0,0 2 0,24 2 0,-39-2 0,0 1 0,0 1 0,0-1 0,-1 1 0,1 0 0,0 0 0,-1 0 0,1 1 0,-1 0 0,0 0 0,0 1 0,0-1 0,0 1 0,-1 0 0,6 7 0,4 4 0,-4-4 0,0 1 0,-1 0 0,12 20 0,-19-28 0,0 1 0,0-1 0,0 1 0,-1 0 0,0 0 0,0-1 0,0 1 0,0 0 0,-1 0 0,1 0 0,-1 0 0,-1 0 0,1 0 0,-2 9 0,-8 21 0,-2-1 0,-24 53 0,27-67 0,9-20 0,0 0 0,0 0 0,0 1 0,-1-1 0,1 0 0,0 0 0,0 0 0,0 0 0,0 1 0,0-1 0,0 0 0,-1 0 0,1 0 0,0 0 0,0 1 0,0-1 0,0 0 0,0 0 0,0 0 0,0 1 0,0-1 0,0 0 0,0 0 0,0 0 0,0 1 0,0-1 0,0 0 0,0 0 0,0 0 0,0 1 0,0-1 0,0 0 0,1 0 0,-1 0 0,0 1 0,0-1 0,0 0 0,0 0 0,0 0 0,0 0 0,1 0 0,-1 1 0,0-1 0,0 0 0,0 0 0,0 0 0,1 0 0,-1 0 0,0 0 0,0 0 0,0 0 0,1 1 0,13-6 0,14-13 0,-22 12 0,0 1 0,1 0 0,0 1 0,0-1 0,0 1 0,0 1 0,0 0 0,1 0 0,0 0 0,0 1 0,0 0 0,0 0 0,0 1 0,0 0 0,0 0 0,13 1 0,-6-1 0,-1 0 0,1-1 0,-1-1 0,18-6 0,38-7 0,-63 15 0,333-22 0,-139 16 0,440 7 0,-478 7 0,-83-8 0,88 2 0,-168-1 10,1 0 0,-1 0 0,0 0-1,1 0 1,-1 0 0,0 0 0,1 0-1,-1 0 1,0 0 0,0 0 0,1 0-1,-1 0 1,0 0 0,1 0 0,-1 1-1,0-1 1,1 0 0,-1 0 0,0 0-1,0 0 1,1 1 0,-1-1 0,0 0-1,0 0 1,1 1 0,-1-1 0,0 0-1,0 0 1,0 1 0,1-1 0,-1 0-1,0 1 1,0-1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51:52.4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51:59.5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15:34.4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599 646 24575,'575'39'0,"-273"-12"0,-189-18 0,282 0 0,-339-9 0,-50 0 0,25-1 0,-30 1 0,1 0 0,-1 0 0,0 0 0,1 0 0,-1-1 0,0 1 0,1-1 0,-1 1 0,0-1 0,0 1 0,0-1 0,1 1 0,-1-1 0,0 0 0,0 0 0,0 0 0,1-1 0,-2 2 0,0 0 0,0-1 0,0 1 0,0 0 0,0 0 0,0 0 0,0-1 0,0 1 0,0 0 0,0 0 0,0-1 0,0 1 0,0 0 0,-1 0 0,1 0 0,0-1 0,0 1 0,0 0 0,0 0 0,0 0 0,-1 0 0,1-1 0,0 1 0,0 0 0,0 0 0,0 0 0,-1 0 0,1 0 0,0 0 0,0 0 0,-1-1 0,1 1 0,0 0 0,0 0 0,0 0 0,-1 0 0,1 0 0,0 0 0,0 0 0,-1 0 0,-7-2 0,0 0 0,-1 1 0,1 0 0,-1 0 0,1 1 0,-15 1 0,-59 10 0,47-5 0,-640 59 0,363-64 0,294 0 0,0 0 0,-28 6 0,43-7 0,0 0 0,0 1 0,0 0 0,0 0 0,0 0 0,0 0 0,0 0 0,0 1 0,0-1 0,1 1 0,-1 0 0,1 0 0,-1 0 0,1 0 0,0 0 0,-1 0 0,1 1 0,0-1 0,1 1 0,-1-1 0,0 1 0,-1 4 0,2-5 0,1-1 0,0 0 0,-1 1 0,1-1 0,0 0 0,0 1 0,0-1 0,0 0 0,0 1 0,1-1 0,-1 0 0,0 0 0,1 1 0,-1-1 0,0 0 0,1 0 0,0 1 0,-1-1 0,1 0 0,0 0 0,-1 0 0,1 0 0,1 1 0,1 0 0,-1 1 0,1-2 0,0 1 0,0 0 0,-1 0 0,1-1 0,0 0 0,1 1 0,3 0 0,7 1 0,0 0 0,1-1 0,17 1 0,-30-3 0,402 1 0,-200-4 0,-74 1 0,9 0 0,261 28 0,-285-9 0,1-6 0,120-3 0,-227-8 0,58-5 0,-63 4 0,0 0 0,-1 0 0,1 0 0,0 0 0,-1 0 0,1-1 0,0 0 0,-1 0 0,0 0 0,1 0 0,-1 0 0,0-1 0,0 1 0,3-5 0,-5 6 0,0 0 0,-1 0 0,1 1 0,0-1 0,-1 0 0,1 0 0,-1 0 0,1 0 0,-1 0 0,0 1 0,1-1 0,-1 0 0,0 0 0,1 0 0,-1 0 0,0 0 0,0 0 0,0 0 0,0 0 0,0 0 0,0 0 0,0 0 0,-1 0 0,1 0 0,0 0 0,0 0 0,-1-1 0,0 0 0,-1 1 0,1-1 0,0 1 0,-1 0 0,1 0 0,-1 0 0,1 0 0,-1 0 0,1 0 0,-1 0 0,0 0 0,0 0 0,-2 0 0,-6-2 0,-1 1 0,0 0 0,-19-1 0,-402 5 0,357 5 0,-139 30 0,-29 3 0,236-39 0,0-1 0,0 0 0,1-1 0,-1 0 0,0 0 0,1 0 0,-1-1 0,-8-3 0,14 4 0,0 1 0,0 0 0,0-1 0,0 1 0,0-1 0,1 1 0,-1-1 0,0 0 0,0 0 0,0 1 0,1-1 0,-1 0 0,0 0 0,1 0 0,-1 1 0,0-1 0,1 0 0,-1 0 0,1 0 0,0 0 0,-1 0 0,1-2 0,0 1 0,0 1 0,1-1 0,-1 0 0,1 1 0,-1-1 0,1 1 0,0-1 0,0 1 0,0-1 0,0 1 0,0-1 0,0 1 0,0 0 0,0-1 0,0 1 0,1 0 0,-1 0 0,1 0 0,1-1 0,8-5 0,0 0 0,1 0 0,0 1 0,0 1 0,0 0 0,22-5 0,83-14 0,-70 16 0,68-8 0,142-1 0,-206 15 0,187-21 0,-218 21 0,-1-2 0,1 0 0,-1-1 0,36-15 0,-54 20 0,1-1 0,-1 1 0,1-1 0,-1 0 0,1 1 0,-1-1 0,0 0 0,1 0 0,-1 0 0,0 0 0,0 0 0,0 0 0,0-1 0,0 1 0,0 0 0,0 0 0,0-1 0,0 1 0,-1-1 0,1 1 0,0-1 0,-1 1 0,0-1 0,1 1 0,-1-1 0,0 1 0,0-1 0,1 0 0,-1 1 0,0-1 0,-1 1 0,1-1 0,0 0 0,0 1 0,-1-1 0,1 1 0,-1-1 0,1 1 0,-1-1 0,0 1 0,0 0 0,-1-3 0,-3-2 0,1 0 0,-1 1 0,-1-1 0,1 1 0,-1 0 0,0 1 0,-11-7 0,-135-69 0,78 43 0,54 26 0,-1 1 0,0 2 0,-1 0 0,-43-10 0,59 20 0,15 5 0,18 7 0,102 27 0,-24-9 0,74 21 0,-149-46 0,0-1 0,0-2 0,0-1 0,34-1 0,-62-2 0,0 0 0,0 0 0,0 0 0,0 0 0,0 0 0,0-1 0,0 1 0,0 0 0,0-1 0,0 0 0,0 1 0,0-1 0,0 0 0,0 0 0,-1 0 0,1 0 0,0 0 0,-1-1 0,1 1 0,-1 0 0,1-1 0,-1 1 0,0-1 0,1 1 0,-1-1 0,0 0 0,0 0 0,0 1 0,0-1 0,-1 0 0,1 0 0,0-3 0,-1 2 0,0 0 0,0-1 0,0 1 0,-1 0 0,0 0 0,1-1 0,-1 1 0,-1 0 0,1 0 0,0 0 0,-1 0 0,1 0 0,-1 1 0,0-1 0,0 0 0,0 1 0,0-1 0,0 1 0,-4-4 0,-10-7 0,-1 0 0,1 1 0,-2 1 0,0 0 0,-31-13 0,-3-4 0,40 20 0,0 1 0,-1 0 0,0 1 0,-17-6 0,-49-11 0,12 2 0,-110-20 0,62 32 0,70 7 0,-49-9 0,68 5 0,-1-2 0,-41-17 0,-18-6 0,57 21 0,-44-22 0,-12-4 0,53 27 0,1 1 0,-1 1 0,-36-3 0,-14-2 0,42 5 0,-70-2 0,46 7 0,28 0 0,-1 2 0,1 2 0,-45 6 0,58-1 0,0 2 0,0 0 0,0 1 0,1 1 0,-40 28 0,13-9 0,0-2 0,-60 25 0,79-42 0,1 2 0,1 2 0,0 0 0,-49 38 0,49-33 0,0-1 0,-2-1 0,1-2 0,-2-1 0,0-1 0,-1-1 0,-57 13 0,87-25 0,-12 2 0,0 2 0,0-1 0,-19 11 0,31-14 0,0 0 0,0 0 0,0 0 0,0 1 0,0-1 0,0 1 0,1 0 0,-1-1 0,0 1 0,1 0 0,0 0 0,-3 4 0,4-5 0,-1 0 0,1 0 0,0 0 0,0 1 0,0-1 0,0 0 0,0 0 0,0 1 0,0-1 0,0 0 0,0 0 0,1 0 0,-1 1 0,0-1 0,1 0 0,-1 0 0,1 0 0,0 0 0,-1 0 0,1 0 0,0 0 0,-1 0 0,1 0 0,0 0 0,0 0 0,1 1 0,4 3 0,1 0 0,-1 0 0,1-1 0,0 0 0,0 0 0,0-1 0,1 0 0,-1 0 0,11 2 0,6 1 0,42 5 0,-18-7 0,63-4 0,23 0 0,-114 3 0,0 1 0,21 6 0,-9-2 0,9 2 0,-22-4 0,-1-2 0,1 0 0,0-1 0,0-1 0,1 0 0,19-2 0,-18-3 0,0-1 0,0-1 0,36-14 0,24-5 0,-35 13 0,1 3 0,0 2 0,58 0 0,-48 8 0,-39-1 0,-1 1 0,1-2 0,0-1 0,-1 0 0,1-1 0,-1-1 0,1 0 0,17-7 0,-14 1 0,0-1 0,-1-1 0,0-1 0,-1 0 0,0-2 0,19-17 0,-33 26 0,1 0 0,-1-1 0,0 1 0,-1-1 0,1 0 0,-1 0 0,0 0 0,-1 0 0,0-1 0,0 1 0,0-1 0,0 0 0,-1 0 0,-1 0 0,1 0 0,-1-1 0,0 1 0,0 0 0,-1-1 0,0 1 0,-1 0 0,0-1 0,-1-7 0,0 10 0,0 0 0,0 1 0,0-1 0,-1 1 0,0 0 0,1 0 0,-1 0 0,-1 0 0,1 0 0,-1 0 0,1 1 0,-1 0 0,0 0 0,0 0 0,-1 0 0,1 0 0,0 1 0,-1 0 0,0 0 0,1 0 0,-1 1 0,0-1 0,-8 0 0,-13-3 0,1 2 0,-1 0 0,-34 2 0,44 1 0,-45-1 0,-11-1 0,1 3 0,-71 11 0,102-3 0,0 2 0,1 1 0,-49 23 0,-43 14 0,111-43 0,-1-1 0,0-1 0,0-1 0,-34 2 0,-12-8 0,35 2 0,-33 2 0,61-1 0,0 1 0,1-1 0,-1 1 0,1 0 0,-1 1 0,1-1 0,-1 1 0,1-1 0,0 1 0,-1 0 0,1 0 0,0 0 0,1 1 0,-1-1 0,0 1 0,1 0 0,-4 3 0,-2 6 0,0 1 0,0 0 0,-6 16 0,9-17 0,-1-1 0,0 0 0,-15 20 0,-2-6 0,-2-1 0,-1-1 0,0-1 0,-2-2 0,0-1 0,-2-1 0,-53 25 0,76-39 0,0 0 0,0 0 0,0 1 0,0 0 0,1 1 0,0 0 0,0 0 0,1 0 0,-1 0 0,1 1 0,1 0 0,-1 0 0,1 0 0,0 1 0,1-1 0,0 1 0,-4 14 0,-1 11 0,2-1 0,1 1 0,-1 37 0,4-44 0,0-4 0,0-1 0,0-1 0,2 1 0,0-1 0,5 34 0,-4-49 0,0 0 0,0-1 0,0 1 0,1-1 0,0 1 0,0-1 0,0 0 0,0 0 0,1 0 0,-1 0 0,1 0 0,0-1 0,0 1 0,1-1 0,-1 1 0,1-1 0,-1 0 0,1-1 0,0 1 0,0-1 0,0 0 0,0 0 0,1 0 0,-1 0 0,9 2 0,-3-2 0,0-1 0,0 0 0,1 0 0,-1-1 0,0 0 0,0-1 0,0 0 0,1-1 0,-1 0 0,12-4 0,11-6 0,52-26 0,-40 16 0,0-1 0,-28 14 0,0 0 0,21-7 0,-18 8 0,0-1 0,22-13 0,-20 9 0,34-13 0,-42 21 0,-1 0 0,0-1 0,0-1 0,-1 0 0,0-1 0,22-18 0,-32 24 0,1 0 0,-1 0 0,0 0 0,0 0 0,0 0 0,-1-1 0,1 1 0,0-1 0,-1 1 0,0-1 0,0 0 0,1 1 0,-1-1 0,-1 0 0,1 0 0,0 0 0,-1 1 0,0-1 0,1 0 0,-1 0 0,0 0 0,0 0 0,-1 0 0,1 0 0,-1 0 0,1 0 0,-1 0 0,0 1 0,0-1 0,0 0 0,-1 1 0,1-1 0,-1 0 0,1 1 0,-1 0 0,0-1 0,0 1 0,0 0 0,0 0 0,-4-3 0,-1-1 0,1 1 0,-2 0 0,1 0 0,-1 0 0,1 1 0,-1 0 0,0 1 0,-11-4 0,-75-16 0,35 10 0,9 1 0,0 2 0,-88-5 0,-103 12 0,237 3 0,-1 0 0,1 0 0,-1 0 0,1-1 0,0 1 0,-1-1 0,-4-2 0,8 3 0,0-1 0,0 0 0,0 1 0,0-1 0,0 1 0,0-1 0,1 0 0,-1 0 0,0 0 0,0 1 0,1-1 0,-1 0 0,0 0 0,1 0 0,-1 0 0,1 0 0,0 0 0,-1 0 0,1 0 0,0-1 0,-1 1 0,1 0 0,0 0 0,0 0 0,0 0 0,0 0 0,0 0 0,0 0 0,0-1 0,1 1 0,-1 0 0,0 0 0,1-1 0,25-76 0,-19 60 0,0 0 0,-2 0 0,8-37 0,-8-22 0,-7-106 0,-1 63 0,3 118 0,0-13 0,0 0 0,1 0 0,0 0 0,8-30 0,-8 40 0,1 1 0,-1 0 0,1 0 0,1 0 0,-1 0 0,0 0 0,1 0 0,0 0 0,0 1 0,0 0 0,0-1 0,1 1 0,-1 0 0,1 0 0,0 1 0,0-1 0,0 1 0,0 0 0,0 0 0,9-2 0,0 0 0,1 1 0,-1 1 0,1 0 0,0 1 0,20 1 0,-17 0 0,0-1 0,0 0 0,21-5 0,-23 3 0,0 0 0,0 1 0,1 0 0,0 1 0,-1 1 0,1 0 0,-1 1 0,1 1 0,29 8 0,-37-8 0,0 1 0,-1 0 0,0 0 0,1 1 0,-1 0 0,-1 0 0,1 0 0,-1 1 0,1 0 0,-1 1 0,-1-1 0,1 1 0,-1 0 0,0 0 0,0 1 0,-1 0 0,0-1 0,0 2 0,-1-1 0,1 0 0,2 11 0,-2 0 0,-1 0 0,-1 0 0,0 0 0,-1 1 0,-3 30 0,1-33 0,0 1 0,1 0 0,1 0 0,1-1 0,0 1 0,1-1 0,7 21 0,-8-33 6,0 0 0,1 1 1,0-1-1,0-1 0,0 1 0,0 0 0,1-1 0,-1 1 0,1-1 0,0 0 0,4 3 0,11 8-1444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0:18:01.4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301 605 24575,'6'-6'0,"1"1"0,0 0 0,0 0 0,1 1 0,14-7 0,-2 1 0,42-21 0,0 3 0,115-35 0,-128 50 0,1 2 0,0 2 0,1 3 0,74-1 0,-68 7 0,0 2 0,-1 3 0,95 21 0,-132-22 0,0 2 0,-1 0 0,0 2 0,0-1 0,-1 2 0,0 1 0,19 14 0,-13-8 0,-15-8 0,2-1 0,-1 0 0,1-1 0,0 0 0,0 0 0,1-1 0,-1-1 0,1 1 0,0-2 0,21 5 0,28-4 0,94-5 0,-61-1 0,-2 0 0,175-26 0,-140-5 0,0 0 0,-110 30 0,1 1 0,-1 1 0,0 1 0,0 0 0,1 1 0,18 3 0,-34-4 0,0 1 0,1-1 0,-1 0 0,1 1 0,-1-1 0,0 0 0,1 0 0,-1 0 0,1 0 0,-1 0 0,1-1 0,-1 1 0,0 0 0,1-1 0,-1 1 0,0-1 0,1 1 0,-1-1 0,2-1 0,-3 2 0,1-1 0,-1 0 0,1 1 0,-1-1 0,0 0 0,0 0 0,1 0 0,-1 1 0,0-1 0,0 0 0,0 0 0,0 0 0,0 0 0,0 1 0,0-1 0,0 0 0,0 0 0,0 0 0,-1 0 0,1 1 0,0-1 0,-1 0 0,1-1 0,-4-4 0,1-1 0,-1 1 0,0 0 0,-1 0 0,-8-9 0,4 5 0,0 0 0,0 0 0,1 0 0,0-1 0,1-1 0,0 1 0,-7-17 0,14 27 0,-1 0 0,1 0 0,-1-1 0,1 1 0,0 0 0,-1 0 0,1 0 0,0 0 0,0 0 0,0-1 0,0 1 0,0 0 0,0 0 0,0 0 0,1 0 0,-1 0 0,0 0 0,1-1 0,-1 1 0,0 0 0,1 0 0,0 0 0,-1 0 0,1 0 0,-1 0 0,1 0 0,0 1 0,0-1 0,0 0 0,-1 0 0,1 0 0,0 1 0,0-1 0,0 1 0,0-1 0,0 0 0,0 1 0,0 0 0,0-1 0,1 1 0,-1 0 0,0-1 0,0 1 0,0 0 0,0 0 0,0 0 0,1 0 0,-1 0 0,1 0 0,5 1 0,0-1 0,-1 1 0,1 0 0,-1 0 0,0 1 0,1-1 0,8 5 0,7 5 0,-1 1 0,32 22 0,-46-29 0,0 1 0,0-1 0,0 1 0,-1 1 0,0-1 0,-1 1 0,1 0 0,-1 0 0,-1 0 0,7 13 0,-11-19 0,1 0 0,-1 0 0,1 0 0,-1 0 0,1 0 0,-1 0 0,0 0 0,0 0 0,1 0 0,-1 0 0,0 0 0,0 1 0,0-1 0,0 0 0,0 0 0,0 0 0,-1 0 0,1 0 0,0 0 0,-1 0 0,1 0 0,0 0 0,-1 0 0,1 0 0,-1 0 0,0 0 0,1 0 0,-1 0 0,0 0 0,1-1 0,-1 1 0,0 0 0,0 0 0,0-1 0,0 1 0,0-1 0,0 1 0,0-1 0,0 1 0,0-1 0,0 1 0,0-1 0,0 0 0,0 0 0,0 1 0,0-1 0,-2 0 0,-4 0 0,1 0 0,0 0 0,-1 0 0,1-1 0,-1 0 0,1 0 0,-7-3 0,-45-18 0,-58-30 0,25 10 0,-604-227 0,490 212 0,179 52 0,0 1 0,0 1 0,0 1 0,-1 2 0,1 0 0,-29 5 0,44-2 0,-1 0 0,1 1 0,-1 0 0,1 0 0,0 2 0,1-1 0,-1 1 0,1 1 0,0 0 0,-14 13 0,2-3 0,19-15 0,-1 0 0,1 1 0,0-2 0,-1 1 0,0 0 0,1-1 0,-1 0 0,0 1 0,0-2 0,1 1 0,-1 0 0,-8 0 0,1-2 0,0 0 0,1 0 0,-14-4 0,18 3 0,-1 1 0,0-1 0,1 1 0,-1 1 0,0-1 0,1 1 0,-1 0 0,0 0 0,0 1 0,1 0 0,-1 0 0,-6 3 0,-51 23 0,-85 33 0,133-55 0,-257 84 0,249-85 0,0 0 0,-1-1 0,1-2 0,-1 0 0,-25-3 0,-53 2 0,101 0 0,-1 0 0,1 0 0,-1 1 0,0-1 0,1 1 0,-1-1 0,1 1 0,-1 0 0,1 0 0,0 1 0,-1-1 0,1 0 0,0 1 0,0-1 0,0 1 0,0 0 0,0 0 0,0-1 0,0 1 0,1 1 0,-1-1 0,1 0 0,-1 0 0,1 0 0,0 1 0,-2 4 0,2-3 0,0 0 0,1 0 0,-1 0 0,1 0 0,0 0 0,0 0 0,0 0 0,1 1 0,-1-1 0,1 0 0,0 0 0,0 0 0,0 0 0,1 0 0,0-1 0,2 6 0,30 44 0,-24-38 0,0 0 0,-1 1 0,0 0 0,11 32 0,9 44 0,-5 1 0,-4 1 0,-5 0 0,5 101 0,-20-189 0,0 2 0,0 0 0,1-1 0,0 1 0,0-1 0,4 15 0,-4-21 0,0 1 0,-1-1 0,1 1 0,0-1 0,0 0 0,0 1 0,0-1 0,0 0 0,0 0 0,0 1 0,0-1 0,1 0 0,-1 0 0,0 0 0,1-1 0,-1 1 0,1 0 0,-1 0 0,1-1 0,-1 1 0,1-1 0,-1 1 0,1-1 0,-1 0 0,1 0 0,0 0 0,-1 0 0,1 0 0,0 0 0,-1 0 0,1 0 0,-1 0 0,1-1 0,1 0 0,13-4 0,-1-1 0,1 0 0,-2-1 0,1-1 0,19-13 0,17-9 0,-22 15 0,0 2 0,1 1 0,0 1 0,1 1 0,39-6 0,-52 12 0,-1 0 0,19-8 0,-25 7 0,0 1 0,0 1 0,1 0 0,-1 0 0,1 1 0,-1 1 0,15-1 0,-4 4 0,0 1 0,0 1 0,-1 0 0,41 15 0,78 42 0,-13-5 0,167 54 0,-274-103 0,1-2 0,0-1 0,1 0 0,-1-2 0,1 0 0,35-3 0,-25 1 0,-1 1 0,37 5 0,12 4 0,0-4 0,116-5 0,-90-2 0,-98 0 0,1-1 0,-1 1 0,1-2 0,-1 1 0,0-1 0,0 0 0,0-1 0,0 0 0,0 0 0,-1-1 0,0 1 0,9-9 0,27-15 0,3 2 0,106-66 0,-130 77 0,0-1 0,-2-1 0,0-1 0,27-32 0,-43 45 0,0 0 0,-1 0 0,0 0 0,0 0 0,0 0 0,0 0 0,-1-1 0,0 0 0,0 1 0,0-1 0,-1 0 0,0 0 0,0 0 0,-1 0 0,1 1 0,-1-1 0,-1 0 0,1 0 0,-1 0 0,-1-6 0,-3-5 0,-1 0 0,-1 1 0,-1 0 0,0 0 0,-14-20 0,6 10 0,13 18 0,-1 1 0,0 0 0,0 0 0,-1 0 0,1 0 0,-2 1 0,1 0 0,-1 0 0,0 0 0,0 1 0,0 0 0,-1 0 0,-14-8 0,-2 5 0,0 1 0,-30-4 0,34 7 0,-1 0 0,1-1 0,-37-16 0,19 4 0,1 1 0,1-1 0,0-2 0,2-2 0,0 0 0,-36-33 0,64 49 0,-1 1 0,1 0 0,-1 1 0,0-1 0,0 1 0,0 0 0,0 0 0,-1 1 0,-8-2 0,-64-10 0,47 10 0,-37-3 0,-127 5 0,115 3 0,49-2 0,1 3 0,0 0 0,0 2 0,0 1 0,1 2 0,-1 0 0,-52 23 0,39-10 0,0-1 0,-54 14 0,53-19 0,1 2 0,-62 32 0,22-9 0,72-34 0,-46 23 0,54-26 0,0 0 0,0 0 0,0 1 0,1 0 0,0-1 0,-1 1 0,1 0 0,0 1 0,0-1 0,0 0 0,-2 5 0,5-8 0,0 1 0,0 0 0,-1-1 0,1 1 0,0 0 0,0-1 0,0 1 0,0-1 0,0 1 0,0 0 0,0-1 0,0 1 0,1-1 0,-1 1 0,0 0 0,0-1 0,0 1 0,1-1 0,-1 1 0,0-1 0,1 1 0,-1-1 0,0 1 0,1-1 0,-1 1 0,1-1 0,-1 1 0,1-1 0,-1 0 0,1 1 0,-1-1 0,1 0 0,-1 1 0,1-1 0,-1 0 0,1 0 0,-1 1 0,1-1 0,0 0 0,-1 0 0,1 0 0,0 0 0,-1 0 0,1 0 0,-1 0 0,1 0 0,1 0 0,32-1 0,6-6 0,1 1 0,0 3 0,0 1 0,82 6 0,-6 7 0,150-5 0,-225-6 0,-6 1 0,56 11 0,26 1 0,-115-13 0,14 0 0,0 0 0,0 1 0,0 0 0,0 2 0,0 0 0,0 1 0,-1 0 0,31 13 0,-37-13 0,1 0 0,0-1 0,1-1 0,-1 0 0,0 0 0,16-1 0,-14 0 0,0 0 0,0 0 0,0 2 0,22 6 0,-31-8 0,-1 1 0,1 0 0,-1-1 0,0 1 0,1 1 0,-1-1 0,0 0 0,-1 1 0,1 0 0,0-1 0,-1 1 0,1 0 0,-1 0 0,0 1 0,0-1 0,0 0 0,-1 1 0,1-1 0,-1 1 0,2 5 0,-1 1 0,0 1 0,-1-1 0,0 0 0,-1 0 0,0 0 0,0 1 0,-1-1 0,-1 0 0,1 0 0,-2 0 0,1 0 0,-2 0 0,1-1 0,-6 11 0,-1 0 0,-1-2 0,0 1 0,-2-1 0,0-1 0,-25 26 0,23-29 0,0 0 0,-1-1 0,-1 0 0,0-2 0,0 0 0,-1-1 0,-1 0 0,0-2 0,0 0 0,0-1 0,-23 4 0,1-3 0,-1-2 0,0-1 0,0-3 0,-60-3 0,88 1 0,1-1 0,-1-1 0,1 0 0,0 0 0,0-1 0,0-1 0,0 0 0,0-1 0,1 0 0,0-1 0,0 0 0,-19-14 0,3 2 0,-1 1 0,-1 1 0,-45-17 0,41 20 0,1-3 0,-49-29 0,78 42 0,-146-91 0,6 6 0,137 82 0,0 1 0,-1 1 0,1-1 0,-1 1 0,0 1 0,0-1 0,0 2 0,0-1 0,-1 1 0,1 0 0,-1 0 0,-11 0 0,5 0 0,-1 0 0,1-2 0,0 0 0,0-1 0,1 0 0,-1-1 0,1-1 0,0 0 0,1-1 0,0 0 0,0-1 0,1-1 0,0 0 0,-12-13 0,23 22 0,0 0 0,-1 0 0,1-1 0,0 1 0,0 0 0,0 0 0,0-1 0,0 1 0,0 0 0,0-1 0,1 1 0,-1-1 0,0 1 0,1-1 0,-1 1 0,1-1 0,-1-2 0,2 4 0,-1-1 0,0 0 0,1 1 0,-1-1 0,0 1 0,1-1 0,-1 1 0,1-1 0,-1 1 0,1-1 0,-1 1 0,1 0 0,-1-1 0,1 1 0,-1-1 0,1 1 0,0 0 0,-1 0 0,1-1 0,0 1 0,-1 0 0,1 0 0,0 0 0,-1 0 0,1 0 0,0 0 0,0 0 0,9-1 0,-1 2 0,1-1 0,-1 1 0,10 2 0,133 14 0,-114-15 0,0 1 0,0 2 0,-1 2 0,48 15 0,-37-6 0,-1 3 0,0 2 0,-1 1 0,-2 3 0,54 39 0,-82-51 0,1-1 0,0-1 0,29 15 0,-37-22 0,1 0 0,1-1 0,-1 0 0,0-1 0,1 0 0,-1-1 0,1 0 0,18 0 0,353-7 0,-373 6 0,-1 0 0,1 0 0,-1-1 0,1 0 0,-1-1 0,0 1 0,1-2 0,-1 1 0,0-1 0,0 0 0,-1-1 0,12-6 0,-19 10 0,0 0 0,1 0 0,-1-1 0,0 1 0,0 0 0,1 0 0,-1 0 0,0 0 0,0 0 0,1 0 0,-1-1 0,0 1 0,0 0 0,1 0 0,-1 0 0,0-1 0,0 1 0,0 0 0,0 0 0,1-1 0,-1 1 0,0 0 0,0 0 0,0-1 0,0 1 0,0 0 0,0 0 0,0-1 0,0 1 0,0 0 0,0-1 0,0 1 0,0 0 0,0 0 0,0-1 0,0 1 0,0 0 0,0 0 0,0-1 0,0 1 0,0 0 0,0-1 0,0 1 0,0 0 0,-1 0 0,1-1 0,0 1 0,0 0 0,0 0 0,0 0 0,-1-1 0,1 1 0,0 0 0,0 0 0,-1 0 0,1-1 0,0 1 0,0 0 0,-1 0 0,1 0 0,0 0 0,-1 0 0,-20-1 0,-6 7 0,-1 1 0,1 2 0,-29 13 0,0-1 0,-182 59 0,179-64 0,0-3 0,-70 8 0,-29-11 0,-236-16 0,352 2 0,1-3 0,-1-1 0,-50-18 0,10 4 0,-121-16 0,176 32 0,0 0 0,0-3 0,1 0 0,-41-21 0,-18-6 0,73 32 0,0-1 0,1 0 0,-1-1 0,1-1 0,1 0 0,-1 0 0,1-1 0,-14-14 0,20 18 0,1 1 0,1 0 0,-1-1 0,0 0 0,1 1 0,0-1 0,0 0 0,0 0 0,0 0 0,1-1 0,-1 1 0,1 0 0,0 0 0,0-1 0,1 1 0,-1-1 0,1 1 0,0-1 0,0 1 0,1-1 0,-1 1 0,1 0 0,0-1 0,0 1 0,1 0 0,-1 0 0,4-7 0,3-2 0,1 0 0,0 1 0,1 0 0,0 0 0,23-19 0,25-28 0,-54 53 0,1 1 0,-1-1 0,-1 0 0,1 0 0,-1-1 0,0 1 0,-1-1 0,1 1 0,0-8 0,-2 8 0,-1 1 0,-1-1 0,1 1 0,-1-1 0,0 1 0,-1 0 0,1-1 0,-1 1 0,0 0 0,0 0 0,0 0 0,-1 0 0,0 0 0,0 1 0,0-1 0,-1 1 0,1 0 0,-8-7 0,10 11 0,1-1 0,0 1 0,0 0 0,-1 0 0,1-1 0,0 1 0,-1 0 0,1-1 0,0 1 0,-1 0 0,1 0 0,0 0 0,-1-1 0,1 1 0,0 0 0,-1 0 0,1 0 0,-1 0 0,1 0 0,0 0 0,-1 0 0,1 0 0,-1 0 0,1 0 0,0 0 0,-1 0 0,1 0 0,-1 0 0,1 0 0,0 0 0,-1 0 0,1 1 0,-1-1 0,1 0 0,-6 15 0,7 20 0,2-15 0,1 0 0,2-1 0,-1 0 0,2 0 0,1 0 0,0-1 0,18 30 0,-19-38 0,-1 0 0,2 0 0,0-1 0,0 0 0,0 0 0,1-1 0,0 0 0,1 0 0,0-1 0,0 0 0,1-1 0,-1 0 0,24 8 0,-15-10 0,0-1 0,1 0 0,-1-2 0,1 0 0,-1-1 0,21-3 0,13 0 0,-40 3 0,227 0 0,-173 3 0,105 19 0,48 29 0,-129-27 0,1-4 0,137 12 0,-163-29 0,-16-2 0,1 2 0,-1 2 0,83 21 0,-97-12 342,-23-2-684,-13-12 308,0 0 0,0 1 0,0-1 0,0 0 0,0 1-1,0-1 1,0 0 0,0 1 0,0-1 0,0 0 0,0 1 0,0-1 0,0 0-1,0 1 1,0-1 0,0 0 0,-1 1 0,1-1 0,0 0 0,0 1-1,0-1 1,0 0 0,-1 1 0,-1 1-307,1-2 307,1 0 0,0 0-1,-1 0 1,1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865FF734-86F1-27E5-A1F2-034880119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10146C6B-A4A1-8613-02B7-C1E377652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A3548E74-EFD6-7225-1F46-4814E4FE3B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1629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9D6C77A6-C721-DE1F-83CD-C8957E75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73813E3F-31FD-09DB-EDAF-8B48B2AFA9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0569E753-ECE4-57AA-6074-7EFEB9B73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4888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C42E01-5DC1-957E-882C-0CC06B1C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0977dccdd_0_10:notes">
            <a:extLst>
              <a:ext uri="{FF2B5EF4-FFF2-40B4-BE49-F238E27FC236}">
                <a16:creationId xmlns:a16="http://schemas.microsoft.com/office/drawing/2014/main" id="{B87B24F4-D4ED-2DB9-FEF5-8F42E362D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00977dccdd_0_10:notes">
            <a:extLst>
              <a:ext uri="{FF2B5EF4-FFF2-40B4-BE49-F238E27FC236}">
                <a16:creationId xmlns:a16="http://schemas.microsoft.com/office/drawing/2014/main" id="{2F054208-707C-3D2D-07A5-E46D5DA55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6662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30A56350-62BF-9B04-D001-035A6B65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C603E762-5035-1383-734D-415029FA8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BC4802F2-0012-D627-DE0D-D6D33918E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3137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E7714D17-C12F-DE7E-31A7-EC516A7E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84A0DB96-F2EF-9840-6FD0-EAF746356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2510D95A-2714-690A-673A-1E4FA4473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9294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0EB2182-5BD2-D776-B6D6-2AB06B37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A54BAEBC-5BA5-F759-4430-369E3B23B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60CCB5A8-874E-5343-989A-FD03257A0A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224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7042D36C-1211-29FF-3637-8CCC9F14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427D68FC-D92D-EDBA-7159-852B888AB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10865460-3A20-EE84-8CFD-E5B724026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8755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c63f1d46f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3ac63f1d46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c63f1d46f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3ac63f1d46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c63f1d46f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g3ac63f1d46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c63f1d46f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ac63f1d46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8A0CDB16-1776-92CA-528D-77AACCAA9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c63f1d46f_0_43:notes">
            <a:extLst>
              <a:ext uri="{FF2B5EF4-FFF2-40B4-BE49-F238E27FC236}">
                <a16:creationId xmlns:a16="http://schemas.microsoft.com/office/drawing/2014/main" id="{C9FDC288-09D0-2797-1A61-3C74FF9A0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ac63f1d46f_0_43:notes">
            <a:extLst>
              <a:ext uri="{FF2B5EF4-FFF2-40B4-BE49-F238E27FC236}">
                <a16:creationId xmlns:a16="http://schemas.microsoft.com/office/drawing/2014/main" id="{B567D084-A39C-C318-9986-B9D4DDEB6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8302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1357e140f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391357e140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3ADE98F2-8C47-679D-FFF5-1D527AFF4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1357e140f_0_8:notes">
            <a:extLst>
              <a:ext uri="{FF2B5EF4-FFF2-40B4-BE49-F238E27FC236}">
                <a16:creationId xmlns:a16="http://schemas.microsoft.com/office/drawing/2014/main" id="{6A194AC8-9724-A715-C61C-72A16F13A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391357e140f_0_8:notes">
            <a:extLst>
              <a:ext uri="{FF2B5EF4-FFF2-40B4-BE49-F238E27FC236}">
                <a16:creationId xmlns:a16="http://schemas.microsoft.com/office/drawing/2014/main" id="{291DF1E8-6741-635C-D95F-87671420F7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9077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0977dccdd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00977dccd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A243CEB0-604A-9D3C-BF74-B43E9FBE1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0977dccdd_0_10:notes">
            <a:extLst>
              <a:ext uri="{FF2B5EF4-FFF2-40B4-BE49-F238E27FC236}">
                <a16:creationId xmlns:a16="http://schemas.microsoft.com/office/drawing/2014/main" id="{9021E742-E76C-1CAD-E3E1-B306A18201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00977dccdd_0_10:notes">
            <a:extLst>
              <a:ext uri="{FF2B5EF4-FFF2-40B4-BE49-F238E27FC236}">
                <a16:creationId xmlns:a16="http://schemas.microsoft.com/office/drawing/2014/main" id="{A9CE74B4-5F1B-6B3E-1C40-FCB623DCAE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7745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sz="7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1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2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2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3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4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body" idx="1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body" idx="2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sz="28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>
            <a:spLocks noGrp="1"/>
          </p:cNvSpPr>
          <p:nvPr>
            <p:ph type="pic" idx="2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1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.png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10" Type="http://schemas.openxmlformats.org/officeDocument/2006/relationships/image" Target="../media/image8.png"/><Relationship Id="rId9" Type="http://schemas.openxmlformats.org/officeDocument/2006/relationships/customXml" Target="../ink/ink3.xml"/><Relationship Id="rId1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open-meteo.com/en/docs/historical-weather-api?timezone=auto&amp;latitude=33.6996&amp;longitude=73.0362&amp;start_date=2022-06-01&amp;end_date=2022-06-30&amp;hourly=&amp;daily=rain_sum,relative_humidity_2m_mean,temperature_2m_mea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nih.org.pk/phb/weekly-bulleti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akistan" TargetMode="External"/><Relationship Id="rId2" Type="http://schemas.openxmlformats.org/officeDocument/2006/relationships/hyperlink" Target="https://open-meteo.com/en/docs/elevation-ap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notesSlide" Target="../notesSlides/notesSlide19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image" Target="../media/image1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Muhammad4626/AI-Driven-Disease-Risk-Prediction-Syste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pdf.sciencedirectassets.com/320472/1-s2.0-S2590197424X00038/1-s2.0-S2590197424000302/main.pdf" TargetMode="External"/><Relationship Id="rId3" Type="http://schemas.openxmlformats.org/officeDocument/2006/relationships/hyperlink" Target="https://www.cambridge.org/core/services/aop-cambridge-core/content/view/B78C75F357F634F146C98FB60B24C6EF/S1935789324000776a.pdf" TargetMode="External"/><Relationship Id="rId7" Type="http://schemas.openxmlformats.org/officeDocument/2006/relationships/hyperlink" Target="https://pdf.sciencedirectassets.com/271842/1-s2.0-S0022169423X00213/1-s2.0-S0022169424002117/main.pdf" TargetMode="External"/><Relationship Id="rId2" Type="http://schemas.openxmlformats.org/officeDocument/2006/relationships/hyperlink" Target="https://www.cambridge.org/core/services/aop-cambridge-core/content/view/87D81594995B2FE8A4854FC436C7A522/S1935789322002932a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irep.iium.edu.my/110725/8/110725_Leptospirosis%20modelling%20using%20hydrometeorological_Scopus.pdf" TargetMode="External"/><Relationship Id="rId5" Type="http://schemas.openxmlformats.org/officeDocument/2006/relationships/hyperlink" Target="https://link.springer.com/content/pdf/10.1186/s12911-022-02092-1.pdf" TargetMode="External"/><Relationship Id="rId4" Type="http://schemas.openxmlformats.org/officeDocument/2006/relationships/hyperlink" Target="https://elischolar.library.yale.edu/cgi/viewcontent.cgi?article=2432&amp;context=ysphtdl" TargetMode="External"/><Relationship Id="rId9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researchgate.net/publication/384989122_Flood_Risk_Analysis_in_Sindh_Pakistan_Predicting_the_Most_Affected_Tehsil_Using_Statistical_and_Machine_Learning_Models_with_Comprehensive_Data?utm_source=chatgpt.com" TargetMode="External"/><Relationship Id="rId7" Type="http://schemas.openxmlformats.org/officeDocument/2006/relationships/hyperlink" Target="https://journals.mriindia.com/index.php/ijacect/article/view/455" TargetMode="External"/><Relationship Id="rId2" Type="http://schemas.openxmlformats.org/officeDocument/2006/relationships/hyperlink" Target="https://journals.lww.com/annals-of-medicine-and-surgery/_layouts/15/oaks.journals/downloadpdf.aspx?an=01845215-202402000-0003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mdpi.com/2504-4990/5/1/13" TargetMode="External"/><Relationship Id="rId5" Type="http://schemas.openxmlformats.org/officeDocument/2006/relationships/hyperlink" Target="https://journals.plos.org/globalpublichealth/article?id=10.1371/journal.pgph.0000047" TargetMode="External"/><Relationship Id="rId4" Type="http://schemas.openxmlformats.org/officeDocument/2006/relationships/hyperlink" Target="https://www.researchgate.net/publication/395366837_Data-Driven_Innovations_in_Flood_Hazard_Assessment_with_Machine_Lear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1261875" y="530350"/>
            <a:ext cx="9418200" cy="3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</a:pPr>
            <a:r>
              <a:rPr lang="en-US" sz="4800" dirty="0"/>
              <a:t>AI-Driven Disease Risk Tracker For Post-Flood Areas</a:t>
            </a:r>
            <a:endParaRPr sz="4800" dirty="0"/>
          </a:p>
        </p:txBody>
      </p:sp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531621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dirty="0"/>
              <a:t>Group Members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None/>
            </a:pPr>
            <a:r>
              <a:rPr lang="en-US" dirty="0"/>
              <a:t>Syed Afaq Haider (P20-0178)</a:t>
            </a:r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None/>
            </a:pPr>
            <a:r>
              <a:rPr lang="en-US" dirty="0"/>
              <a:t>Muhammad Muzammil (P21-8328)</a:t>
            </a:r>
            <a:endParaRPr dirty="0"/>
          </a:p>
        </p:txBody>
      </p:sp>
      <p:sp>
        <p:nvSpPr>
          <p:cNvPr id="108" name="Google Shape;108;p1"/>
          <p:cNvSpPr txBox="1"/>
          <p:nvPr/>
        </p:nvSpPr>
        <p:spPr>
          <a:xfrm>
            <a:off x="6792025" y="4800600"/>
            <a:ext cx="4867221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Supervisor</a:t>
            </a:r>
            <a:endParaRPr dirty="0"/>
          </a:p>
          <a:p>
            <a:pPr marL="0" marR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Dr. Muhammad Amin</a:t>
            </a:r>
            <a:endParaRPr dirty="0"/>
          </a:p>
        </p:txBody>
      </p:sp>
      <p:pic>
        <p:nvPicPr>
          <p:cNvPr id="109" name="Google Shape;109;p1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468" y="109250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822719" y="583722"/>
            <a:ext cx="9692700" cy="80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17" name="Google Shape;117;p2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100" dirty="0"/>
              <a:t>Developing a disease risk tracker with following key features: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100" dirty="0"/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100" dirty="0"/>
              <a:t>Risk Prediction of Diseases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100" dirty="0"/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100" dirty="0"/>
              <a:t>Temporal Trend Analysis (Lagged Disease Spikes)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100" dirty="0"/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100" dirty="0"/>
              <a:t>Explainable AI Justification (SHAP)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sz="2100" dirty="0"/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D9A918CF-D63B-61EB-67FF-23FB972C3D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201ADA3-81D2-2AD9-8FB6-DF470667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52DC5755-50B6-989D-42AA-D1E8AE0D67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13D9A1FE-5C3A-5515-887E-54ACB77221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719" y="583722"/>
            <a:ext cx="9692700" cy="80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2CE6F68F-DD1B-B7CD-5602-F087B4D9CA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100" dirty="0"/>
              <a:t>Floods in Pakistan frequently lead to outbreaks of waterborne and vector-borne diseases. However, no AI-based system exists that integrates flood data, disease history, and environmental indicators to predict post-flood health risks with transparency. This lack of predictive capacity delays medical response and worsens the humanitarian crisis.</a:t>
            </a:r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8E7C7692-88EA-5147-17CB-2F4EB9A934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1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648260" y="599266"/>
            <a:ext cx="9692640" cy="8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Problem Solution</a:t>
            </a:r>
            <a:endParaRPr dirty="0"/>
          </a:p>
        </p:txBody>
      </p:sp>
      <p:sp>
        <p:nvSpPr>
          <p:cNvPr id="123" name="Google Shape;123;p3"/>
          <p:cNvSpPr txBox="1">
            <a:spLocks noGrp="1"/>
          </p:cNvSpPr>
          <p:nvPr>
            <p:ph type="body" idx="1"/>
          </p:nvPr>
        </p:nvSpPr>
        <p:spPr>
          <a:xfrm>
            <a:off x="795146" y="1448377"/>
            <a:ext cx="9472803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27432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</a:pPr>
            <a:r>
              <a:rPr lang="en-US" sz="2100" dirty="0"/>
              <a:t>Develop an AI-powered predictive model that integrates historical flood indicators, and socio-economic vulnerability factors to forecast the risk level of priority waterborne and vector-borne disease outbreaks (AD, Malaria, Typhoid) in flood-affected districts of Pakistan. The system will use Explainable AI (XAI) to provide transparent, action-oriented reports for public health officials</a:t>
            </a:r>
            <a:endParaRPr sz="2100"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A9032D27-84CA-F60E-3555-B353005C9C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636D904B-6EB3-4099-C511-6BFC6562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5DCB81D1-8263-DC9F-ADBF-FF642AE0F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366" y="557155"/>
            <a:ext cx="9692640" cy="93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Identified Gap</a:t>
            </a:r>
            <a:endParaRPr dirty="0"/>
          </a:p>
        </p:txBody>
      </p:sp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CEA8C830-A049-4645-0BE3-84C55D33D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4163" y="1828799"/>
            <a:ext cx="9066285" cy="3868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457200" lvl="1" indent="-182880">
              <a:spcBef>
                <a:spcPts val="500"/>
              </a:spcBef>
              <a:buSzPts val="1600"/>
            </a:pPr>
            <a:r>
              <a:rPr lang="en-US" sz="2100" dirty="0"/>
              <a:t>Challenge: Public health response is often reactive and delayed, relying on confirmed case reports after an outbreak has started.</a:t>
            </a:r>
          </a:p>
          <a:p>
            <a:pPr marL="274320" lvl="1" indent="0">
              <a:spcBef>
                <a:spcPts val="500"/>
              </a:spcBef>
              <a:buSzPts val="1600"/>
              <a:buNone/>
            </a:pPr>
            <a:endParaRPr lang="en-US" sz="2100" dirty="0"/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 sz="2100" dirty="0"/>
              <a:t>Current Solutions: Epidemiological studies provide statistical association but lack predictive, location-specific forecasting models that integrate environmental features with high accuracy. </a:t>
            </a:r>
          </a:p>
          <a:p>
            <a:pPr marL="27432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</a:pPr>
            <a:endParaRPr lang="en-US" sz="2100" dirty="0"/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 sz="2100" dirty="0"/>
              <a:t>Safety Limitations: Existing flood models focus on flood hazard mapping but fail to couple this directly with health vulnerability and transparent risk justification.</a:t>
            </a:r>
            <a:endParaRPr sz="2100"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55A696A-E24E-2483-CE19-B9A0BE9D2B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EA0FA4EA-530B-952A-2876-BF3A8C3DE0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66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902CB66-C5B4-25EA-5BE1-AD90039A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0977dccdd_0_10">
            <a:extLst>
              <a:ext uri="{FF2B5EF4-FFF2-40B4-BE49-F238E27FC236}">
                <a16:creationId xmlns:a16="http://schemas.microsoft.com/office/drawing/2014/main" id="{BC814ABB-0890-D431-5557-3BE03DF0EC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069" y="385553"/>
            <a:ext cx="9692700" cy="752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Literature Review</a:t>
            </a:r>
            <a:endParaRPr dirty="0"/>
          </a:p>
        </p:txBody>
      </p:sp>
      <p:sp>
        <p:nvSpPr>
          <p:cNvPr id="131" name="Google Shape;131;g300977dccdd_0_10">
            <a:extLst>
              <a:ext uri="{FF2B5EF4-FFF2-40B4-BE49-F238E27FC236}">
                <a16:creationId xmlns:a16="http://schemas.microsoft.com/office/drawing/2014/main" id="{4CFCC393-68AF-FFB9-6E1C-82B18EEC3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48770" y="18210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g300977dccdd_0_10">
            <a:extLst>
              <a:ext uri="{FF2B5EF4-FFF2-40B4-BE49-F238E27FC236}">
                <a16:creationId xmlns:a16="http://schemas.microsoft.com/office/drawing/2014/main" id="{3D695765-6082-9125-D9F6-D56938FBBA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0071E0-F3F4-DA17-1FBF-EE0DD23B3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181876"/>
              </p:ext>
            </p:extLst>
          </p:nvPr>
        </p:nvGraphicFramePr>
        <p:xfrm>
          <a:off x="279259" y="2006743"/>
          <a:ext cx="10734319" cy="3831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606">
                  <a:extLst>
                    <a:ext uri="{9D8B030D-6E8A-4147-A177-3AD203B41FA5}">
                      <a16:colId xmlns:a16="http://schemas.microsoft.com/office/drawing/2014/main" val="1156164807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2849831117"/>
                    </a:ext>
                  </a:extLst>
                </a:gridCol>
                <a:gridCol w="3880184">
                  <a:extLst>
                    <a:ext uri="{9D8B030D-6E8A-4147-A177-3AD203B41FA5}">
                      <a16:colId xmlns:a16="http://schemas.microsoft.com/office/drawing/2014/main" val="66758047"/>
                    </a:ext>
                  </a:extLst>
                </a:gridCol>
                <a:gridCol w="3107445">
                  <a:extLst>
                    <a:ext uri="{9D8B030D-6E8A-4147-A177-3AD203B41FA5}">
                      <a16:colId xmlns:a16="http://schemas.microsoft.com/office/drawing/2014/main" val="630424665"/>
                    </a:ext>
                  </a:extLst>
                </a:gridCol>
              </a:tblGrid>
              <a:tr h="483038">
                <a:tc>
                  <a:txBody>
                    <a:bodyPr/>
                    <a:lstStyle/>
                    <a:p>
                      <a:pPr lvl="0" algn="ctr">
                        <a:lnSpc>
                          <a:spcPct val="2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160345"/>
                  </a:ext>
                </a:extLst>
              </a:tr>
              <a:tr h="4914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 Comparative Review of Predictive Models for Waterborne Disease Outbreaks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[14]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Models often face issues with data inconsistency, missing information, and lacking interpretability/trust among public health actors.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Directly addresses the "lack of interpretability" gap by integrating the SHAP Engine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2644979"/>
                  </a:ext>
                </a:extLst>
              </a:tr>
              <a:tr h="4914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Flood Risk Analysis in Sindh, Pakistan: Predicting the Most Affected Tehsil Using Statistical and Machine Learning Models</a:t>
                      </a:r>
                      <a:r>
                        <a:rPr lang="en-US" sz="1200" kern="0" dirty="0"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[10]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Focus is on physical/demographic impact (displacement), not health outcome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Shifts the prediction target from displacement to the risk of disease outbreak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8468554"/>
                  </a:ext>
                </a:extLst>
              </a:tr>
              <a:tr h="4072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Data-Driven Innovations in Flood Hazard Assessment with Machine Learning 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latin typeface="Century Schoolbook" panose="02040604050505020304" pitchFamily="18" charset="0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[11]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Highlights the variability of ML model performance across different regions and environments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Uses SHAP to identify the most significant regional features, providing local interpretability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893529"/>
                  </a:ext>
                </a:extLst>
              </a:tr>
              <a:tr h="4914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 Climate Change Calamity: Assessing The Impact Of Flooding On Waterborne Disease Burden In Pakistan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[3]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Due to limited data availability and small sample sizes, the study relied on less powerful non-parametric statistical tests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 move beyond statistical association to predictive modeling for stronger inference.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3942418"/>
                  </a:ext>
                </a:extLst>
              </a:tr>
              <a:tr h="5963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learning rapid flood risk predictions for climate resilience planning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[6]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Learning models generally lack easy interpretability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Our FYP specifically utilizes SHAP delivering the required explainability for public health decision-makers.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5783934"/>
                  </a:ext>
                </a:extLst>
              </a:tr>
            </a:tbl>
          </a:graphicData>
        </a:graphic>
      </p:graphicFrame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EB63C8AF-CB73-8C85-260F-5D3388CE27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9220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24C3-AB6C-0A95-2BB5-66E5793E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618CD634-908E-91F2-650D-618015AA2D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4A889A-6CB4-EC66-B8C5-05C86054A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043855"/>
              </p:ext>
            </p:extLst>
          </p:nvPr>
        </p:nvGraphicFramePr>
        <p:xfrm>
          <a:off x="220193" y="2033269"/>
          <a:ext cx="10734319" cy="3580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606">
                  <a:extLst>
                    <a:ext uri="{9D8B030D-6E8A-4147-A177-3AD203B41FA5}">
                      <a16:colId xmlns:a16="http://schemas.microsoft.com/office/drawing/2014/main" val="669012799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1758558637"/>
                    </a:ext>
                  </a:extLst>
                </a:gridCol>
                <a:gridCol w="3880184">
                  <a:extLst>
                    <a:ext uri="{9D8B030D-6E8A-4147-A177-3AD203B41FA5}">
                      <a16:colId xmlns:a16="http://schemas.microsoft.com/office/drawing/2014/main" val="926461096"/>
                    </a:ext>
                  </a:extLst>
                </a:gridCol>
                <a:gridCol w="3107445">
                  <a:extLst>
                    <a:ext uri="{9D8B030D-6E8A-4147-A177-3AD203B41FA5}">
                      <a16:colId xmlns:a16="http://schemas.microsoft.com/office/drawing/2014/main" val="1548733420"/>
                    </a:ext>
                  </a:extLst>
                </a:gridCol>
              </a:tblGrid>
              <a:tr h="582731">
                <a:tc>
                  <a:txBody>
                    <a:bodyPr/>
                    <a:lstStyle/>
                    <a:p>
                      <a:pPr lvl="0" algn="ctr">
                        <a:lnSpc>
                          <a:spcPct val="2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041748"/>
                  </a:ext>
                </a:extLst>
              </a:tr>
              <a:tr h="8815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sym typeface="Arial"/>
                        </a:rPr>
                        <a:t>Machine Learning and Prediction of Infectious Diseases: A Systematic Review </a:t>
                      </a: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sym typeface="Arial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[13]</a:t>
                      </a:r>
                      <a:endParaRPr kumimoji="0" lang="en-US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sym typeface="Arial"/>
                        </a:rPr>
                        <a:t>High-quality, comprehensive data is often incomplete or biased. Predictions lack probabilistic interpretations in some ML models.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sym typeface="Arial"/>
                        </a:rPr>
                        <a:t>We focus on integrating multiple data sources (meteorological, GIS, socio-economic) to create a more comprehensive feature 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207610"/>
                  </a:ext>
                </a:extLst>
              </a:tr>
              <a:tr h="5827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 learning based efficient prediction of positive cases of waterborne diseases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[4]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The study is limited to patient-centric features.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Our FYP integrates environmental, flood, and geospatial data with disease data, addressing the root causes of the outbreak.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0738198"/>
                  </a:ext>
                </a:extLst>
              </a:tr>
              <a:tr h="582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Leptospirosis modelling using hydrometeorological indices and random forest machine learning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[5]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The study is limited to one disease and a purely hydro-meteorological feature set.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Our FYP applies a generalized flood-disease model to three key diseases.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1245204"/>
                  </a:ext>
                </a:extLst>
              </a:tr>
              <a:tr h="582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Prediction of dengue annual incidence using seasonal climate variability in Bangladesh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[12]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Focuses on seasonal dengue in an endemic region; models may not generalize well to extreme, sudden, non-seasonal flood events.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Fuses Seasonal with Event Data: Integrates both seasonal features (</a:t>
                      </a:r>
                      <a:r>
                        <a:rPr lang="en-US" sz="1200" kern="100" dirty="0" err="1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Week_Index</a:t>
                      </a: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) and extreme flood event features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14997260"/>
                  </a:ext>
                </a:extLst>
              </a:tr>
            </a:tbl>
          </a:graphicData>
        </a:graphic>
      </p:graphicFrame>
      <p:sp>
        <p:nvSpPr>
          <p:cNvPr id="7" name="Google Shape;132;g300977dccdd_0_10">
            <a:extLst>
              <a:ext uri="{FF2B5EF4-FFF2-40B4-BE49-F238E27FC236}">
                <a16:creationId xmlns:a16="http://schemas.microsoft.com/office/drawing/2014/main" id="{E3C98661-9A3D-21CF-98A2-556565253D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732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071C78CF-A319-9C93-AEDE-9FFE23BA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23CD1159-D83E-648D-1C40-1A94E4D4D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1249" y="145530"/>
            <a:ext cx="9692640" cy="85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Use Case Diagram</a:t>
            </a:r>
            <a:endParaRPr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3CA9C50-A662-B9D0-EC25-7A1C627584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D31FD6-7B99-19B0-7109-F90B7A04D080}"/>
                  </a:ext>
                </a:extLst>
              </p14:cNvPr>
              <p14:cNvContentPartPr/>
              <p14:nvPr/>
            </p14:nvContentPartPr>
            <p14:xfrm>
              <a:off x="6417720" y="1598700"/>
              <a:ext cx="891720" cy="16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1D31FD6-7B99-19B0-7109-F90B7A04D0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54720" y="1535700"/>
                <a:ext cx="101736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709DAD-5C08-2629-49BE-A6A3051BDAC0}"/>
                  </a:ext>
                </a:extLst>
              </p14:cNvPr>
              <p14:cNvContentPartPr/>
              <p14:nvPr/>
            </p14:nvContentPartPr>
            <p14:xfrm>
              <a:off x="6474240" y="1729380"/>
              <a:ext cx="1325520" cy="143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709DAD-5C08-2629-49BE-A6A3051BDAC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11240" y="1666740"/>
                <a:ext cx="14511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CB2DCA-8A8F-13BC-86E0-2F1E4CDB7DFA}"/>
                  </a:ext>
                </a:extLst>
              </p14:cNvPr>
              <p14:cNvContentPartPr/>
              <p14:nvPr/>
            </p14:nvContentPartPr>
            <p14:xfrm>
              <a:off x="10972712" y="495425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CB2DCA-8A8F-13BC-86E0-2F1E4CDB7DF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909712" y="489161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D934AA7-89A0-445F-9965-213A2E0B1EC1}"/>
                  </a:ext>
                </a:extLst>
              </p14:cNvPr>
              <p14:cNvContentPartPr/>
              <p14:nvPr/>
            </p14:nvContentPartPr>
            <p14:xfrm>
              <a:off x="699392" y="3405534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D934AA7-89A0-445F-9965-213A2E0B1E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6752" y="3342894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213E748F-D839-E5F0-4A66-55A75EA64CF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 shot of a black and white screen&#10;&#10;AI-generated content may be incorrect.">
            <a:extLst>
              <a:ext uri="{FF2B5EF4-FFF2-40B4-BE49-F238E27FC236}">
                <a16:creationId xmlns:a16="http://schemas.microsoft.com/office/drawing/2014/main" id="{2404389C-B40E-E97E-EA95-08F399664AB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07863" y="368291"/>
            <a:ext cx="4614931" cy="629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0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758C5FAF-C700-5080-3C0D-FBA3D026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C59B4CE4-185B-FF9F-5777-C4EE45080C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709" y="197346"/>
            <a:ext cx="9692640" cy="77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Activity Diagram</a:t>
            </a:r>
            <a:endParaRPr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548268B-205A-C662-BE75-B42F8A765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FAAB9C5-4F1C-330B-C07A-55E5642D72F5}"/>
                  </a:ext>
                </a:extLst>
              </p14:cNvPr>
              <p14:cNvContentPartPr/>
              <p14:nvPr/>
            </p14:nvContentPartPr>
            <p14:xfrm>
              <a:off x="6845840" y="1677520"/>
              <a:ext cx="1076400" cy="477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FAAB9C5-4F1C-330B-C07A-55E5642D72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83200" y="1614880"/>
                <a:ext cx="120204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B1C1E7-7091-3DA6-18A2-DE9450A1358F}"/>
                  </a:ext>
                </a:extLst>
              </p14:cNvPr>
              <p14:cNvContentPartPr/>
              <p14:nvPr/>
            </p14:nvContentPartPr>
            <p14:xfrm>
              <a:off x="5713949" y="1620294"/>
              <a:ext cx="1098360" cy="479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B1C1E7-7091-3DA6-18A2-DE9450A135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50949" y="1557654"/>
                <a:ext cx="1224000" cy="6051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A741F9B0-51E6-8034-C88E-DEF8F2FF99F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3AA2EB-88F3-1FC4-548F-EFB2F0659A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0205" y="128212"/>
            <a:ext cx="3410658" cy="660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0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C855F25A-730B-6DDE-0FA8-E13B006C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899C8658-0A00-46AB-9DAA-2DD00DE3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551" y="240884"/>
            <a:ext cx="9692640" cy="78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System Architecture Diagram</a:t>
            </a:r>
            <a:endParaRPr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0FDDC6D-7EB6-53A0-1B97-242DB45986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29BB75AC-6459-370C-7B71-A155E032C1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536F3F-9010-00A1-40D4-C2F5BAC41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47" y="1257286"/>
            <a:ext cx="10988998" cy="45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9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FF9DEFA7-FABE-069F-68F2-3FAF9D1B6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1AE5DA24-8902-E0E1-A68C-E12814C033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598" y="173254"/>
            <a:ext cx="9692640" cy="67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Sequence Diagram</a:t>
            </a:r>
            <a:endParaRPr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1C05E74-DD41-ACD1-9407-ED44EE2BFC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51EB2DED-0012-F072-AF5B-EC2D938D8B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31A6A9A6-B0DC-E79C-AB38-E98AD546C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97" y="756644"/>
            <a:ext cx="9755395" cy="600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7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64EC-92A8-1B56-EA6B-A36792BD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161" y="18933"/>
            <a:ext cx="9692640" cy="1325562"/>
          </a:xfrm>
        </p:spPr>
        <p:txBody>
          <a:bodyPr/>
          <a:lstStyle/>
          <a:p>
            <a:r>
              <a:rPr lang="en-US" dirty="0"/>
              <a:t>Software Development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DD9A3-C62E-ADAE-11A7-79734BA2C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369" y="1344495"/>
            <a:ext cx="9129321" cy="4895967"/>
          </a:xfrm>
        </p:spPr>
        <p:txBody>
          <a:bodyPr/>
          <a:lstStyle/>
          <a:p>
            <a:pPr marL="137160" indent="0">
              <a:buNone/>
            </a:pPr>
            <a:r>
              <a:rPr lang="en-US" dirty="0"/>
              <a:t>We used Agile Development Methodology with iterative cycles.</a:t>
            </a:r>
          </a:p>
          <a:p>
            <a:pPr marL="137160" indent="0">
              <a:buNone/>
            </a:pPr>
            <a:r>
              <a:rPr lang="en-US" b="1" dirty="0"/>
              <a:t>Data Collection and Preparation:</a:t>
            </a:r>
          </a:p>
          <a:p>
            <a:r>
              <a:rPr lang="en-US" dirty="0"/>
              <a:t>Manually collected multi-district weekly health and environmental data.</a:t>
            </a:r>
          </a:p>
          <a:p>
            <a:r>
              <a:rPr lang="en-US" dirty="0"/>
              <a:t>Cleaned, validated, and standardized dataset.</a:t>
            </a:r>
          </a:p>
          <a:p>
            <a:r>
              <a:rPr lang="en-US" dirty="0"/>
              <a:t>Created final processed dataset for model training.</a:t>
            </a:r>
            <a:br>
              <a:rPr lang="en-US" dirty="0"/>
            </a:br>
            <a:endParaRPr lang="en-US" dirty="0"/>
          </a:p>
          <a:p>
            <a:pPr marL="137160" indent="0">
              <a:buNone/>
            </a:pPr>
            <a:r>
              <a:rPr lang="en-US" b="1" dirty="0"/>
              <a:t>ML Model Development:</a:t>
            </a:r>
          </a:p>
          <a:p>
            <a:pPr marL="137160" indent="0">
              <a:buNone/>
            </a:pPr>
            <a:r>
              <a:rPr lang="en-US" dirty="0"/>
              <a:t>Trained three separate </a:t>
            </a:r>
            <a:r>
              <a:rPr lang="en-US" dirty="0" err="1"/>
              <a:t>CatBoost</a:t>
            </a:r>
            <a:r>
              <a:rPr lang="en-US" dirty="0"/>
              <a:t> regression models</a:t>
            </a:r>
          </a:p>
          <a:p>
            <a:r>
              <a:rPr lang="en-US" dirty="0" err="1"/>
              <a:t>Malaria_Risk</a:t>
            </a:r>
            <a:endParaRPr lang="en-US" dirty="0"/>
          </a:p>
          <a:p>
            <a:r>
              <a:rPr lang="en-US" dirty="0" err="1"/>
              <a:t>AD_Risk</a:t>
            </a:r>
            <a:endParaRPr lang="en-US" dirty="0"/>
          </a:p>
          <a:p>
            <a:r>
              <a:rPr lang="en-US" dirty="0" err="1"/>
              <a:t>Typhoid_Risk</a:t>
            </a:r>
            <a:endParaRPr lang="en-US" dirty="0"/>
          </a:p>
        </p:txBody>
      </p:sp>
      <p:pic>
        <p:nvPicPr>
          <p:cNvPr id="6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3546229E-5F12-2EA1-025A-235E19E7C57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2;g300977dccdd_0_10">
            <a:extLst>
              <a:ext uri="{FF2B5EF4-FFF2-40B4-BE49-F238E27FC236}">
                <a16:creationId xmlns:a16="http://schemas.microsoft.com/office/drawing/2014/main" id="{26857E8E-2F8C-6A4A-C800-8E574D7696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559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89CCC-17FA-004C-D4DD-5BFF0E47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161" y="499309"/>
            <a:ext cx="9692640" cy="873175"/>
          </a:xfrm>
        </p:spPr>
        <p:txBody>
          <a:bodyPr/>
          <a:lstStyle/>
          <a:p>
            <a:r>
              <a:rPr lang="en-US" dirty="0"/>
              <a:t>Software Development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BDDF0-55A4-3C21-0DAC-BF6FD8EF6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385" y="1473868"/>
            <a:ext cx="9107904" cy="4981074"/>
          </a:xfrm>
        </p:spPr>
        <p:txBody>
          <a:bodyPr>
            <a:normAutofit fontScale="92500" lnSpcReduction="20000"/>
          </a:bodyPr>
          <a:lstStyle/>
          <a:p>
            <a:pPr marL="137160" indent="0">
              <a:buNone/>
            </a:pPr>
            <a:r>
              <a:rPr lang="en-US" b="1" dirty="0"/>
              <a:t>UI &amp; Frontend Development:</a:t>
            </a:r>
          </a:p>
          <a:p>
            <a:r>
              <a:rPr lang="en-US" dirty="0"/>
              <a:t>Design UI for the web-based Frontend of the system.</a:t>
            </a:r>
          </a:p>
          <a:p>
            <a:r>
              <a:rPr lang="en-US" dirty="0"/>
              <a:t>Develop the Frontend</a:t>
            </a:r>
          </a:p>
          <a:p>
            <a:pPr marL="137160" indent="0">
              <a:buNone/>
            </a:pPr>
            <a:r>
              <a:rPr lang="en-US" b="1" dirty="0"/>
              <a:t>FYP-1 Deliverables Completed</a:t>
            </a:r>
            <a:endParaRPr lang="en-US" dirty="0"/>
          </a:p>
          <a:p>
            <a:r>
              <a:rPr lang="en-US" dirty="0"/>
              <a:t>Literature review</a:t>
            </a:r>
          </a:p>
          <a:p>
            <a:r>
              <a:rPr lang="en-US" dirty="0"/>
              <a:t>Problem identification &amp; scope</a:t>
            </a:r>
          </a:p>
          <a:p>
            <a:r>
              <a:rPr lang="en-US" dirty="0"/>
              <a:t>UML designs</a:t>
            </a:r>
          </a:p>
          <a:p>
            <a:r>
              <a:rPr lang="en-US" dirty="0"/>
              <a:t>Complete dataset collection</a:t>
            </a:r>
          </a:p>
          <a:p>
            <a:r>
              <a:rPr lang="en-US" dirty="0"/>
              <a:t>Preprocessing pipeline + feature engineering</a:t>
            </a:r>
          </a:p>
          <a:p>
            <a:r>
              <a:rPr lang="en-US" dirty="0"/>
              <a:t>Final processed dataset</a:t>
            </a:r>
          </a:p>
          <a:p>
            <a:r>
              <a:rPr lang="en-US" dirty="0"/>
              <a:t>Trained prediction models</a:t>
            </a:r>
          </a:p>
          <a:p>
            <a:r>
              <a:rPr lang="en-US" dirty="0"/>
              <a:t>Testing script with real example input</a:t>
            </a:r>
          </a:p>
          <a:p>
            <a:r>
              <a:rPr lang="en-US" dirty="0"/>
              <a:t>Frontend Developed for login and prediction pages.</a:t>
            </a:r>
          </a:p>
          <a:p>
            <a:pPr marL="137160" indent="0">
              <a:buNone/>
            </a:pPr>
            <a:endParaRPr lang="en-US" dirty="0"/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2BFB3989-F012-C887-F409-81771FBD20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2;g300977dccdd_0_10">
            <a:extLst>
              <a:ext uri="{FF2B5EF4-FFF2-40B4-BE49-F238E27FC236}">
                <a16:creationId xmlns:a16="http://schemas.microsoft.com/office/drawing/2014/main" id="{921BCE58-101B-B5B9-5F5F-047C3DC891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205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D206-0908-B72B-A969-48BA7B42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334A-7CB4-72EB-D035-6605A12C2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b="1" dirty="0"/>
              <a:t>Weather Data:</a:t>
            </a:r>
          </a:p>
          <a:p>
            <a:r>
              <a:rPr lang="en-US" dirty="0"/>
              <a:t>We used open-</a:t>
            </a:r>
            <a:r>
              <a:rPr lang="en-US" dirty="0" err="1"/>
              <a:t>meteo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 for the weather data.</a:t>
            </a:r>
          </a:p>
          <a:p>
            <a:r>
              <a:rPr lang="en-US" dirty="0">
                <a:hlinkClick r:id="rId2"/>
              </a:rPr>
              <a:t>Open-</a:t>
            </a:r>
            <a:r>
              <a:rPr lang="en-US" dirty="0" err="1">
                <a:hlinkClick r:id="rId2"/>
              </a:rPr>
              <a:t>Meteo</a:t>
            </a:r>
            <a:r>
              <a:rPr lang="en-US" dirty="0">
                <a:hlinkClick r:id="rId2"/>
              </a:rPr>
              <a:t> Api Link</a:t>
            </a:r>
            <a:endParaRPr lang="en-US" dirty="0"/>
          </a:p>
          <a:p>
            <a:pPr marL="137160" indent="0">
              <a:buNone/>
            </a:pPr>
            <a:r>
              <a:rPr lang="en-US" dirty="0"/>
              <a:t>Used to get weather data, rainfall, temperature etc.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/>
              <a:t>The Historical Weather API is based on reanalysis datasets and uses a combination of weather station, aircraft, buoy, radar, and satellite observations to create a comprehensive record of past weather conditions. These datasets are able to fill in gaps by using mathematical models to estimate the values of various weather variables.</a:t>
            </a:r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C918A569-8B83-46A5-CFDF-87045885C9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2;g300977dccdd_0_10">
            <a:extLst>
              <a:ext uri="{FF2B5EF4-FFF2-40B4-BE49-F238E27FC236}">
                <a16:creationId xmlns:a16="http://schemas.microsoft.com/office/drawing/2014/main" id="{F677F379-6A68-1E71-D010-81B006FCF4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3123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90EF-DAE0-D673-4FDC-7A4376C2F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637AD-9D6A-A3A8-CA41-2804C19B2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Epidemiological</a:t>
            </a:r>
            <a:r>
              <a:rPr lang="en-US" b="1" dirty="0"/>
              <a:t> Data:</a:t>
            </a:r>
          </a:p>
          <a:p>
            <a:r>
              <a:rPr lang="en-US" dirty="0"/>
              <a:t>NIH was the main source for the disease’s data.</a:t>
            </a:r>
          </a:p>
          <a:p>
            <a:r>
              <a:rPr lang="en-US" dirty="0">
                <a:hlinkClick r:id="rId2"/>
              </a:rPr>
              <a:t>NIH Reports</a:t>
            </a:r>
            <a:endParaRPr lang="en-US" dirty="0"/>
          </a:p>
          <a:p>
            <a:pPr marL="137160" indent="0">
              <a:buNone/>
            </a:pPr>
            <a:r>
              <a:rPr lang="en-US" dirty="0"/>
              <a:t>Sourced district wise disease data also ensured that temporal alignment. We scrapped the data from the pdf reports using scripts.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/>
              <a:t>NIH Weekly Bulletins which report weekly cases of the diseases, district wise.</a:t>
            </a:r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5C1F56DF-241E-A3DB-9E1A-3F62EF4E20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2;g300977dccdd_0_10">
            <a:extLst>
              <a:ext uri="{FF2B5EF4-FFF2-40B4-BE49-F238E27FC236}">
                <a16:creationId xmlns:a16="http://schemas.microsoft.com/office/drawing/2014/main" id="{8736CAC0-0EA4-A78B-0D1C-59002C7FFA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0309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12D2-19B2-948A-363C-85FD5370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A7B6C-FC0C-BB61-08CD-765EEF010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&amp; Static District Data: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of population, area, and Elevation etc.</a:t>
            </a:r>
          </a:p>
          <a:p>
            <a:r>
              <a:rPr lang="en-US" dirty="0">
                <a:hlinkClick r:id="rId2"/>
              </a:rPr>
              <a:t>Open-</a:t>
            </a:r>
            <a:r>
              <a:rPr lang="en-US" dirty="0" err="1">
                <a:hlinkClick r:id="rId2"/>
              </a:rPr>
              <a:t>meteo</a:t>
            </a:r>
            <a:r>
              <a:rPr lang="en-US" dirty="0">
                <a:hlinkClick r:id="rId2"/>
              </a:rPr>
              <a:t> Api Link</a:t>
            </a:r>
            <a:endParaRPr lang="en-US" dirty="0"/>
          </a:p>
          <a:p>
            <a:r>
              <a:rPr lang="en-US" dirty="0">
                <a:hlinkClick r:id="rId3"/>
              </a:rPr>
              <a:t>Wikipedia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37160" indent="0">
              <a:buNone/>
            </a:pPr>
            <a:r>
              <a:rPr lang="en-US" dirty="0"/>
              <a:t>Used open-</a:t>
            </a:r>
            <a:r>
              <a:rPr lang="en-US" dirty="0" err="1"/>
              <a:t>meteo</a:t>
            </a:r>
            <a:r>
              <a:rPr lang="en-US" dirty="0"/>
              <a:t> Api for elevation, Wikipedia and other sources for different data features.</a:t>
            </a:r>
          </a:p>
        </p:txBody>
      </p:sp>
      <p:sp>
        <p:nvSpPr>
          <p:cNvPr id="4" name="Google Shape;132;g300977dccdd_0_10">
            <a:extLst>
              <a:ext uri="{FF2B5EF4-FFF2-40B4-BE49-F238E27FC236}">
                <a16:creationId xmlns:a16="http://schemas.microsoft.com/office/drawing/2014/main" id="{52CCE03A-8C0B-0702-107B-A5FBDF8411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  <p:pic>
        <p:nvPicPr>
          <p:cNvPr id="5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01DB1CE2-8A1A-D576-D491-825BE4E7C9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9660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c63f1d46f_0_3"/>
          <p:cNvSpPr txBox="1">
            <a:spLocks noGrp="1"/>
          </p:cNvSpPr>
          <p:nvPr>
            <p:ph type="title"/>
          </p:nvPr>
        </p:nvSpPr>
        <p:spPr>
          <a:xfrm>
            <a:off x="308378" y="308138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Data Acquisition</a:t>
            </a:r>
            <a:endParaRPr dirty="0"/>
          </a:p>
        </p:txBody>
      </p:sp>
      <p:sp>
        <p:nvSpPr>
          <p:cNvPr id="233" name="Google Shape;233;g3ac63f1d46f_0_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36" name="Google Shape;236;g3ac63f1d46f_0_3"/>
          <p:cNvSpPr txBox="1"/>
          <p:nvPr/>
        </p:nvSpPr>
        <p:spPr>
          <a:xfrm>
            <a:off x="747064" y="1255080"/>
            <a:ext cx="10198237" cy="5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Epidemiological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weekly health bulletins from the National Institute of Health (NIH), Pakistan.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district-level case counts for Malaria, Acute Diarrhea (AD), and Typhoid.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temporal alignment of disease cases with environmental factors for modeling.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Meteorological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historical weather patterns using the Open-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environmental parameters included: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Rainfall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Humidity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&amp; Static District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Gathered through Open-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web scraping and official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Captured invariant features of each district: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Sanitation Index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Area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River Status</a:t>
            </a:r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CD7E226E-2FDC-733F-021C-BD1DB1B7B0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c63f1d46f_0_14"/>
          <p:cNvSpPr txBox="1">
            <a:spLocks noGrp="1"/>
          </p:cNvSpPr>
          <p:nvPr>
            <p:ph type="title"/>
          </p:nvPr>
        </p:nvSpPr>
        <p:spPr>
          <a:xfrm>
            <a:off x="250147" y="308138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Data Processing</a:t>
            </a:r>
            <a:endParaRPr dirty="0"/>
          </a:p>
        </p:txBody>
      </p:sp>
      <p:sp>
        <p:nvSpPr>
          <p:cNvPr id="242" name="Google Shape;242;g3ac63f1d46f_0_1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45" name="Google Shape;245;g3ac63f1d46f_0_14"/>
          <p:cNvSpPr txBox="1"/>
          <p:nvPr/>
        </p:nvSpPr>
        <p:spPr>
          <a:xfrm>
            <a:off x="250147" y="1238574"/>
            <a:ext cx="11111400" cy="5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anomalies such as districts with 0 population to ensure data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numeric columns (e.g., rainfall, temperature, humidity, population, elevation) to numeric types and District column to category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Imputed missing values: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features (temperature, rainfall, humidity) filled with 0 when missing.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district features (elevation, area, river status, sanitation index) filled with mean values.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disease risk per 10,000 people for Malaria, Acute Diarrhea (AD), and Typhoid.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next-week targets by shifting risk values forward in time, enabling week-ahead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removal: filtered extreme risk values beyond the 99th percentile.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Sequencing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data hierarchically by Year → District → Week Index to preserve chronological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lag features for environmental variables (lag-1 and lag-2 weeks) to capture temporal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rolling averages (3-week and 5-week windows) for rainfall, temperature, and humidity to smooth short-term fluctuations.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dataset: complete, time-aware, and enriched with temporal context for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modeling.</a:t>
            </a:r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BCE68325-0064-1967-6CEA-5141B535A3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c63f1d46f_0_32"/>
          <p:cNvSpPr txBox="1">
            <a:spLocks noGrp="1"/>
          </p:cNvSpPr>
          <p:nvPr>
            <p:ph type="title"/>
          </p:nvPr>
        </p:nvSpPr>
        <p:spPr>
          <a:xfrm>
            <a:off x="361317" y="361050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Model Architecture (</a:t>
            </a:r>
            <a:r>
              <a:rPr lang="en-US" dirty="0" err="1"/>
              <a:t>CatBoost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260" name="Google Shape;260;g3ac63f1d46f_0_3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63" name="Google Shape;263;g3ac63f1d46f_0_32"/>
          <p:cNvSpPr txBox="1"/>
          <p:nvPr/>
        </p:nvSpPr>
        <p:spPr>
          <a:xfrm>
            <a:off x="417015" y="1324293"/>
            <a:ext cx="10875825" cy="544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type: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Boosting Decision Trees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Regressor)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 next-week disease risk for Malaria, Acute Diarrhea, and Typhoid at the district level.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Environmental variables (rainfall, temperature, humidity), static district features (elevation, sanitation, area, river status), and lag/rolling features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Handling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Lagged features: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1- and 2-week delays in environmental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averages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Smooth short-term fluctuations to better capture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933E0DA1-B89A-481F-50D2-BB6FA9D66E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c63f1d46f_0_43"/>
          <p:cNvSpPr txBox="1">
            <a:spLocks noGrp="1"/>
          </p:cNvSpPr>
          <p:nvPr>
            <p:ph type="title"/>
          </p:nvPr>
        </p:nvSpPr>
        <p:spPr>
          <a:xfrm>
            <a:off x="293217" y="253342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Training Pipeline</a:t>
            </a:r>
            <a:endParaRPr dirty="0"/>
          </a:p>
        </p:txBody>
      </p:sp>
      <p:sp>
        <p:nvSpPr>
          <p:cNvPr id="269" name="Google Shape;269;g3ac63f1d46f_0_4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72" name="Google Shape;272;g3ac63f1d46f_0_43"/>
          <p:cNvSpPr txBox="1"/>
          <p:nvPr/>
        </p:nvSpPr>
        <p:spPr>
          <a:xfrm>
            <a:off x="477429" y="1214700"/>
            <a:ext cx="9804592" cy="5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Iterations: 1500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Depth: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RMSE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stopping: 100 rounds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processed dataset with engineered features and normalized disease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numeric columns, fill missing values, and ensure data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categorical (District) and numeric features.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Target 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targets: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Malaria_Risk_next_week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AD_Risk_next_week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Typhoid_Risk_next_week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rows with missing target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Chronological Train-Test Split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based 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week_index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preserve temporal order.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the last 8 weeks as the test set.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contains all prior weeks to prevent data leakage.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BD67F083-36EF-DB50-0175-02E890A38D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3C79185-C5D8-1294-3BB0-92A682BBC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c63f1d46f_0_43">
            <a:extLst>
              <a:ext uri="{FF2B5EF4-FFF2-40B4-BE49-F238E27FC236}">
                <a16:creationId xmlns:a16="http://schemas.microsoft.com/office/drawing/2014/main" id="{EDAEC5B9-F793-C0C2-F789-5F4C60D48A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375" y="226500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Training Pipeline</a:t>
            </a:r>
            <a:endParaRPr dirty="0"/>
          </a:p>
        </p:txBody>
      </p:sp>
      <p:sp>
        <p:nvSpPr>
          <p:cNvPr id="269" name="Google Shape;269;g3ac63f1d46f_0_43">
            <a:extLst>
              <a:ext uri="{FF2B5EF4-FFF2-40B4-BE49-F238E27FC236}">
                <a16:creationId xmlns:a16="http://schemas.microsoft.com/office/drawing/2014/main" id="{8DE000C2-6C8F-6690-8A48-701669B44D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72" name="Google Shape;272;g3ac63f1d46f_0_43">
            <a:extLst>
              <a:ext uri="{FF2B5EF4-FFF2-40B4-BE49-F238E27FC236}">
                <a16:creationId xmlns:a16="http://schemas.microsoft.com/office/drawing/2014/main" id="{1D5CC61D-5CD1-47F0-AFD4-1FE30ED3C863}"/>
              </a:ext>
            </a:extLst>
          </p:cNvPr>
          <p:cNvSpPr txBox="1"/>
          <p:nvPr/>
        </p:nvSpPr>
        <p:spPr>
          <a:xfrm>
            <a:off x="532889" y="1161017"/>
            <a:ext cx="10052700" cy="5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 separately for each disease risk target.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RMSE loss and early stopping.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categorical features natively (District).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Evaluation &amp;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on chronologically separated test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performance metrics: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MAE (Mean Absolute Error)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RMSE (Root Mean Squared Error)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R² Score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Output &amp; Artifacts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files (.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each target.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CSV for test weeks.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CSV for model interpretation.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JSON/pickle storing model configuration and performance metrics.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59C7AEB9-713E-1FC0-0C3F-C713F2BD21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2620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1357e140f_0_8"/>
          <p:cNvSpPr txBox="1">
            <a:spLocks noGrp="1"/>
          </p:cNvSpPr>
          <p:nvPr>
            <p:ph type="title"/>
          </p:nvPr>
        </p:nvSpPr>
        <p:spPr>
          <a:xfrm>
            <a:off x="962799" y="339532"/>
            <a:ext cx="9692640" cy="793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300" dirty="0"/>
              <a:t>Results</a:t>
            </a:r>
            <a:endParaRPr sz="43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9493C5-9AF1-1FDE-E640-913EA0E5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1363" y="1205959"/>
            <a:ext cx="8595360" cy="5155512"/>
          </a:xfrm>
        </p:spPr>
        <p:txBody>
          <a:bodyPr>
            <a:normAutofit/>
          </a:bodyPr>
          <a:lstStyle/>
          <a:p>
            <a:pPr marL="137160" indent="0">
              <a:lnSpc>
                <a:spcPct val="100000"/>
              </a:lnSpc>
              <a:buNone/>
            </a:pPr>
            <a:r>
              <a:rPr lang="en-US" sz="1400" b="1" dirty="0"/>
              <a:t>Malaria Model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MAE = 1.95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RMSE = 3.34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R2 = 0.88</a:t>
            </a:r>
          </a:p>
          <a:p>
            <a:pPr marL="137160" indent="0">
              <a:lnSpc>
                <a:spcPct val="100000"/>
              </a:lnSpc>
              <a:buNone/>
            </a:pPr>
            <a:r>
              <a:rPr lang="en-US" sz="1400" b="1" dirty="0"/>
              <a:t>AD Model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MAE = 1.54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RMSE = 2.35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R2 = 0.79</a:t>
            </a:r>
          </a:p>
          <a:p>
            <a:pPr marL="137160" indent="0">
              <a:lnSpc>
                <a:spcPct val="100000"/>
              </a:lnSpc>
              <a:buNone/>
            </a:pPr>
            <a:r>
              <a:rPr lang="en-US" sz="1400" b="1" dirty="0"/>
              <a:t>Typhoid Model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MAE = 0.17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RMSE = 0.25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R2 = 0.43</a:t>
            </a:r>
            <a:endParaRPr lang="en-PK" sz="1400" dirty="0"/>
          </a:p>
        </p:txBody>
      </p:sp>
      <p:sp>
        <p:nvSpPr>
          <p:cNvPr id="278" name="Google Shape;278;g391357e140f_0_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81" name="Google Shape;281;g391357e140f_0_8"/>
          <p:cNvSpPr txBox="1"/>
          <p:nvPr/>
        </p:nvSpPr>
        <p:spPr>
          <a:xfrm>
            <a:off x="5326725" y="3242750"/>
            <a:ext cx="7722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 descr="A graph of a graph with text&#10;&#10;AI-generated content may be incorrect.">
            <a:extLst>
              <a:ext uri="{FF2B5EF4-FFF2-40B4-BE49-F238E27FC236}">
                <a16:creationId xmlns:a16="http://schemas.microsoft.com/office/drawing/2014/main" id="{03FE76F4-2762-3666-6A32-7F54B3AC3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607" y="1340427"/>
            <a:ext cx="6430297" cy="4658445"/>
          </a:xfrm>
          <a:prstGeom prst="rect">
            <a:avLst/>
          </a:prstGeom>
        </p:spPr>
      </p:pic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4BE690D3-8D42-475B-7C14-B8067EEA7E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9916744B-1E4A-F2F4-1B2B-FB26EC40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1357e140f_0_8">
            <a:extLst>
              <a:ext uri="{FF2B5EF4-FFF2-40B4-BE49-F238E27FC236}">
                <a16:creationId xmlns:a16="http://schemas.microsoft.com/office/drawing/2014/main" id="{B1AAD367-3B55-6AA0-78D1-83FF25D2E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799" y="374378"/>
            <a:ext cx="9692640" cy="945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300" dirty="0"/>
              <a:t>Testing Results</a:t>
            </a:r>
            <a:endParaRPr sz="4300" dirty="0"/>
          </a:p>
        </p:txBody>
      </p:sp>
      <p:sp>
        <p:nvSpPr>
          <p:cNvPr id="278" name="Google Shape;278;g391357e140f_0_8">
            <a:extLst>
              <a:ext uri="{FF2B5EF4-FFF2-40B4-BE49-F238E27FC236}">
                <a16:creationId xmlns:a16="http://schemas.microsoft.com/office/drawing/2014/main" id="{5A9B8450-A0AC-93B5-4275-7631FD0337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81" name="Google Shape;281;g391357e140f_0_8">
            <a:extLst>
              <a:ext uri="{FF2B5EF4-FFF2-40B4-BE49-F238E27FC236}">
                <a16:creationId xmlns:a16="http://schemas.microsoft.com/office/drawing/2014/main" id="{1D77D573-C6C1-4DB5-CDB8-A48AC6FAD6D6}"/>
              </a:ext>
            </a:extLst>
          </p:cNvPr>
          <p:cNvSpPr txBox="1"/>
          <p:nvPr/>
        </p:nvSpPr>
        <p:spPr>
          <a:xfrm>
            <a:off x="5326725" y="3242750"/>
            <a:ext cx="7722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21AB6340-D70D-0763-8719-741688FDA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842" y="1407204"/>
            <a:ext cx="6780048" cy="5085036"/>
          </a:xfrm>
          <a:prstGeom prst="rect">
            <a:avLst/>
          </a:prstGeom>
        </p:spPr>
      </p:pic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E370B00F-8435-D5C9-19FB-E187232B9D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5144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B06C-1F37-2AB4-DE92-78D250E70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2CB3F-F86F-2E66-C5E3-F970B47B2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Google Shape;130;g300977dccdd_0_10">
            <a:extLst>
              <a:ext uri="{FF2B5EF4-FFF2-40B4-BE49-F238E27FC236}">
                <a16:creationId xmlns:a16="http://schemas.microsoft.com/office/drawing/2014/main" id="{7A59BAF7-FFE2-21E8-73BB-243E7A2BB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555" y="0"/>
            <a:ext cx="8544601" cy="8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UI</a:t>
            </a:r>
            <a:endParaRPr sz="4400" dirty="0"/>
          </a:p>
        </p:txBody>
      </p:sp>
      <p:pic>
        <p:nvPicPr>
          <p:cNvPr id="7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ED253FD4-2F6A-4AB2-DEB3-C7D2A44DDEB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C9E254-641D-3E49-92C6-1BF8146C9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15" y="998715"/>
            <a:ext cx="9980104" cy="571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40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B769-CCF4-CE05-D78C-5750DB55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76" y="145783"/>
            <a:ext cx="9692640" cy="831064"/>
          </a:xfrm>
        </p:spPr>
        <p:txBody>
          <a:bodyPr/>
          <a:lstStyle/>
          <a:p>
            <a:r>
              <a:rPr lang="en-US" dirty="0"/>
              <a:t>Frontend UI</a:t>
            </a:r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DD8A3787-723A-B496-E138-E2C4806055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40A5EB-02EB-8129-4469-2F2E7954F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94" y="1099664"/>
            <a:ext cx="9960134" cy="5698178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95C0AF0-A4CB-29D1-8301-DD7F133B96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604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0977dccdd_0_10"/>
          <p:cNvSpPr txBox="1">
            <a:spLocks noGrp="1"/>
          </p:cNvSpPr>
          <p:nvPr>
            <p:ph type="title"/>
          </p:nvPr>
        </p:nvSpPr>
        <p:spPr>
          <a:xfrm>
            <a:off x="911017" y="490385"/>
            <a:ext cx="9692700" cy="75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>
                <a:latin typeface="Century Schoolbook" panose="02040604050505020304" pitchFamily="18" charset="0"/>
              </a:rPr>
              <a:t>Objectives</a:t>
            </a:r>
            <a:endParaRPr dirty="0">
              <a:latin typeface="Century Schoolbook" panose="02040604050505020304" pitchFamily="18" charset="0"/>
            </a:endParaRPr>
          </a:p>
        </p:txBody>
      </p:sp>
      <p:sp>
        <p:nvSpPr>
          <p:cNvPr id="131" name="Google Shape;131;g300977dccdd_0_10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>
              <a:latin typeface="Century Schoolbook" panose="020406040505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>
              <a:latin typeface="Century Schoolbook" panose="020406040505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>
              <a:latin typeface="Century Schoolbook" panose="02040604050505020304" pitchFamily="18" charset="0"/>
            </a:endParaRPr>
          </a:p>
        </p:txBody>
      </p:sp>
      <p:sp>
        <p:nvSpPr>
          <p:cNvPr id="132" name="Google Shape;132;g300977dccdd_0_1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entury Schoolbook" panose="02040604050505020304" pitchFamily="18" charset="0"/>
              </a:rPr>
              <a:t>26</a:t>
            </a:fld>
            <a:endParaRPr>
              <a:latin typeface="Century Schoolbook" panose="02040604050505020304" pitchFamily="18" charset="0"/>
            </a:endParaRPr>
          </a:p>
        </p:txBody>
      </p:sp>
      <p:sp>
        <p:nvSpPr>
          <p:cNvPr id="135" name="Google Shape;135;g300977dccdd_0_10"/>
          <p:cNvSpPr txBox="1"/>
          <p:nvPr/>
        </p:nvSpPr>
        <p:spPr>
          <a:xfrm>
            <a:off x="911017" y="5707841"/>
            <a:ext cx="59352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entury Schoolbook" panose="02040604050505020304" pitchFamily="18" charset="0"/>
              <a:ea typeface="Century Schoolbook"/>
              <a:cs typeface="Century Schoolbook"/>
              <a:sym typeface="Century Schoolbook"/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57BD98E4-7BCF-33D7-006D-9F80ACD07D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8116829"/>
              </p:ext>
            </p:extLst>
          </p:nvPr>
        </p:nvGraphicFramePr>
        <p:xfrm>
          <a:off x="158817" y="1713656"/>
          <a:ext cx="10957560" cy="4846320"/>
        </p:xfrm>
        <a:graphic>
          <a:graphicData uri="http://schemas.openxmlformats.org/drawingml/2006/table">
            <a:tbl>
              <a:tblPr firstRow="1" bandRow="1" bandCol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5934568">
                  <a:extLst>
                    <a:ext uri="{9D8B030D-6E8A-4147-A177-3AD203B41FA5}">
                      <a16:colId xmlns:a16="http://schemas.microsoft.com/office/drawing/2014/main" val="2664450441"/>
                    </a:ext>
                  </a:extLst>
                </a:gridCol>
                <a:gridCol w="5022992">
                  <a:extLst>
                    <a:ext uri="{9D8B030D-6E8A-4147-A177-3AD203B41FA5}">
                      <a16:colId xmlns:a16="http://schemas.microsoft.com/office/drawing/2014/main" val="4148543683"/>
                    </a:ext>
                  </a:extLst>
                </a:gridCol>
              </a:tblGrid>
              <a:tr h="22798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FYP 1</a:t>
                      </a:r>
                      <a:endParaRPr lang="en-US" sz="1200" dirty="0">
                        <a:latin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 FYP 2</a:t>
                      </a:r>
                      <a:endParaRPr lang="en-US" sz="1200" dirty="0">
                        <a:latin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210004"/>
                  </a:ext>
                </a:extLst>
              </a:tr>
              <a:tr h="1069765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1: Initial Research and Planning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Define problem statement and project scope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Identify key objectives and outcomes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Assign roles and responsibilities within team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Finalize workflow and modules (Flood, Disease, UI)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Prepare proposal and get supervisor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1: Advanced Model Development &amp; Training</a:t>
                      </a:r>
                    </a:p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Tune hyperparameters and improve accuracy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Add multi-disease prediction capability (AD, Malaria, Typhoid)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Integrate SHAP for feature importance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Include temporal data and flood recurrence handling</a:t>
                      </a:r>
                      <a:endParaRPr lang="en-US" sz="1200" b="1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51159"/>
                  </a:ext>
                </a:extLst>
              </a:tr>
              <a:tr h="92946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2: Literature Review and Design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Study existing research on flood prediction, climate-disease modeling, and GIS-based systems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Identify feature correlations (rainfall, NDVI, humidity, etc.)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Finalize system architecture and model flow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Plan dataset structure and required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2: Front-end Development</a:t>
                      </a:r>
                    </a:p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Develop web interface for NDMA analysts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Create data input form and visualization dashboard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Integrate model with backend API</a:t>
                      </a:r>
                      <a:endParaRPr lang="en-US" sz="1200" b="1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333141"/>
                  </a:ext>
                </a:extLst>
              </a:tr>
              <a:tr h="85932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3: Dataset Collection and Preprocessing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Collect historical data from open datasets and reports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Combine disease, and environmental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Handle missing values, normalize and encode features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Prepare labeled dataset for model training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  <a:cs typeface="Times New Roman" panose="02020603050405020304" pitchFamily="18" charset="0"/>
                        </a:rPr>
                        <a:t>Task 3: Testing, Optimization, Evaluation &amp; Deployment</a:t>
                      </a:r>
                    </a:p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Perform unit and integration testing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Optimize model and interface performance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Conduct system testing and validation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Deploy final system (local/cloud)</a:t>
                      </a:r>
                      <a:endParaRPr lang="en-US" sz="1200" b="1" dirty="0">
                        <a:latin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921515"/>
                  </a:ext>
                </a:extLst>
              </a:tr>
              <a:tr h="859320">
                <a:tc>
                  <a:txBody>
                    <a:bodyPr/>
                    <a:lstStyle/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4: Model Design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latin typeface="Century Schoolbook" panose="02040604050505020304" pitchFamily="18" charset="0"/>
                        </a:rPr>
                        <a:t>CatBoost</a:t>
                      </a: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 Regression Model.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Define input-output mappings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Train and evaluate baseline models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Perform EDA and visualize feature correlations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Prepare performance metrics and documentation</a:t>
                      </a:r>
                      <a:endParaRPr lang="en-US" sz="1200" b="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lang="en-US" sz="1200" b="1" dirty="0">
                          <a:latin typeface="Century Schoolbook" panose="02040604050505020304" pitchFamily="18" charset="0"/>
                          <a:cs typeface="Times New Roman" panose="02020603050405020304" pitchFamily="18" charset="0"/>
                        </a:rPr>
                        <a:t>Task 4: Final Documentation &amp; Presentation</a:t>
                      </a:r>
                    </a:p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Prepare detailed project report and poster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Record demonstration video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Final presentation and viva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Submit final deliverables</a:t>
                      </a:r>
                      <a:endParaRPr lang="en-US" sz="1200" b="1" dirty="0">
                        <a:latin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229733"/>
                  </a:ext>
                </a:extLst>
              </a:tr>
            </a:tbl>
          </a:graphicData>
        </a:graphic>
      </p:graphicFrame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FA33FAAA-DE80-C775-015C-307B30776A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2BE2AE70-F9EC-67EB-9F14-F7C35AC0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0977dccdd_0_10">
            <a:extLst>
              <a:ext uri="{FF2B5EF4-FFF2-40B4-BE49-F238E27FC236}">
                <a16:creationId xmlns:a16="http://schemas.microsoft.com/office/drawing/2014/main" id="{21AC4F91-98FE-733D-11DA-CE36F3A52D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731" y="604958"/>
            <a:ext cx="9692700" cy="84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Gantt Chart</a:t>
            </a:r>
            <a:endParaRPr dirty="0"/>
          </a:p>
        </p:txBody>
      </p:sp>
      <p:sp>
        <p:nvSpPr>
          <p:cNvPr id="131" name="Google Shape;131;g300977dccdd_0_10">
            <a:extLst>
              <a:ext uri="{FF2B5EF4-FFF2-40B4-BE49-F238E27FC236}">
                <a16:creationId xmlns:a16="http://schemas.microsoft.com/office/drawing/2014/main" id="{4EB7F5E8-2534-3F30-6845-57A2AD27C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g300977dccdd_0_10">
            <a:extLst>
              <a:ext uri="{FF2B5EF4-FFF2-40B4-BE49-F238E27FC236}">
                <a16:creationId xmlns:a16="http://schemas.microsoft.com/office/drawing/2014/main" id="{F2ADACE9-D1C6-790C-6CFE-1FA3B7AAFD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135" name="Google Shape;135;g300977dccdd_0_10">
            <a:extLst>
              <a:ext uri="{FF2B5EF4-FFF2-40B4-BE49-F238E27FC236}">
                <a16:creationId xmlns:a16="http://schemas.microsoft.com/office/drawing/2014/main" id="{3EB99A03-8438-DA44-0C5E-C93B9562E6C1}"/>
              </a:ext>
            </a:extLst>
          </p:cNvPr>
          <p:cNvSpPr txBox="1"/>
          <p:nvPr/>
        </p:nvSpPr>
        <p:spPr>
          <a:xfrm>
            <a:off x="936327" y="6017850"/>
            <a:ext cx="59352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7" name="OTLSHAPE_TB_00000000000000000000000000000000_LeftEndCaps">
            <a:extLst>
              <a:ext uri="{FF2B5EF4-FFF2-40B4-BE49-F238E27FC236}">
                <a16:creationId xmlns:a16="http://schemas.microsoft.com/office/drawing/2014/main" id="{602DD85A-5559-C992-11BB-D429F7F6663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66848" y="2083491"/>
            <a:ext cx="336503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44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178" name="OTLSHAPE_TB_00000000000000000000000000000000_RightEndCaps">
            <a:extLst>
              <a:ext uri="{FF2B5EF4-FFF2-40B4-BE49-F238E27FC236}">
                <a16:creationId xmlns:a16="http://schemas.microsoft.com/office/drawing/2014/main" id="{888AB5DB-2627-0C27-5442-546590028C8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772467" y="2108268"/>
            <a:ext cx="336503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44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179" name="OTLSHAPE_TB_00000000000000000000000000000000_ScaleContainer">
            <a:extLst>
              <a:ext uri="{FF2B5EF4-FFF2-40B4-BE49-F238E27FC236}">
                <a16:creationId xmlns:a16="http://schemas.microsoft.com/office/drawing/2014/main" id="{F72209BB-1A1D-A452-1F79-A0F7433164D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1698" y="2457419"/>
            <a:ext cx="10261600" cy="381000"/>
          </a:xfrm>
          <a:prstGeom prst="snip2DiagRect">
            <a:avLst>
              <a:gd name="adj1" fmla="val 100000"/>
              <a:gd name="adj2" fmla="val 16667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OTLSHAPE_G_00000000000000000000000000000000_ShapeBelow0">
            <a:extLst>
              <a:ext uri="{FF2B5EF4-FFF2-40B4-BE49-F238E27FC236}">
                <a16:creationId xmlns:a16="http://schemas.microsoft.com/office/drawing/2014/main" id="{A5E49A31-97F6-7310-211C-76F87B78D3B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2343993" y="3626033"/>
            <a:ext cx="0" cy="2553967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OTLSHAPE_G_00000000000000000000000000000000_ShapeBelow1">
            <a:extLst>
              <a:ext uri="{FF2B5EF4-FFF2-40B4-BE49-F238E27FC236}">
                <a16:creationId xmlns:a16="http://schemas.microsoft.com/office/drawing/2014/main" id="{8D48F7EE-79FB-7E10-B9A0-7F78B429C9BD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3652335" y="3639789"/>
            <a:ext cx="0" cy="2532411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OTLSHAPE_G_00000000000000000000000000000000_ShapeBelow2">
            <a:extLst>
              <a:ext uri="{FF2B5EF4-FFF2-40B4-BE49-F238E27FC236}">
                <a16:creationId xmlns:a16="http://schemas.microsoft.com/office/drawing/2014/main" id="{95B34EA0-EDD2-FA9D-CDBF-122A61AAFB82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4553603" y="2800664"/>
            <a:ext cx="23941" cy="3379336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OTLSHAPE_G_00000000000000000000000000000000_ShapeBelow3">
            <a:extLst>
              <a:ext uri="{FF2B5EF4-FFF2-40B4-BE49-F238E27FC236}">
                <a16:creationId xmlns:a16="http://schemas.microsoft.com/office/drawing/2014/main" id="{EC42DEC6-1799-46A8-EC61-FD6B932B010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5676520" y="2800664"/>
            <a:ext cx="12148" cy="3379336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OTLSHAPE_G_00000000000000000000000000000000_ShapeBelow4">
            <a:extLst>
              <a:ext uri="{FF2B5EF4-FFF2-40B4-BE49-F238E27FC236}">
                <a16:creationId xmlns:a16="http://schemas.microsoft.com/office/drawing/2014/main" id="{F84ADD83-B478-232D-51A8-7BA74CE5605B}"/>
              </a:ext>
            </a:extLst>
          </p:cNvPr>
          <p:cNvCxnSpPr>
            <a:cxnSpLocks/>
            <a:endCxn id="135" idx="3"/>
          </p:cNvCxnSpPr>
          <p:nvPr>
            <p:custDataLst>
              <p:tags r:id="rId8"/>
            </p:custDataLst>
          </p:nvPr>
        </p:nvCxnSpPr>
        <p:spPr>
          <a:xfrm>
            <a:off x="6824747" y="3110673"/>
            <a:ext cx="46780" cy="3069327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OTLSHAPE_G_00000000000000000000000000000000_ShapeBelow5">
            <a:extLst>
              <a:ext uri="{FF2B5EF4-FFF2-40B4-BE49-F238E27FC236}">
                <a16:creationId xmlns:a16="http://schemas.microsoft.com/office/drawing/2014/main" id="{F668586E-9221-46A6-B74D-832CA280DFBF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 flipH="1">
            <a:off x="7838158" y="2913989"/>
            <a:ext cx="11750" cy="3258211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OTLSHAPE_G_00000000000000000000000000000000_ShapeBelow6">
            <a:extLst>
              <a:ext uri="{FF2B5EF4-FFF2-40B4-BE49-F238E27FC236}">
                <a16:creationId xmlns:a16="http://schemas.microsoft.com/office/drawing/2014/main" id="{BC7F2BFA-C0E9-2568-22A4-C1E95394A04F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8972824" y="2800664"/>
            <a:ext cx="0" cy="3379336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OTLSHAPE_G_00000000000000000000000000000000_ShapeBelow7">
            <a:extLst>
              <a:ext uri="{FF2B5EF4-FFF2-40B4-BE49-F238E27FC236}">
                <a16:creationId xmlns:a16="http://schemas.microsoft.com/office/drawing/2014/main" id="{5E36CFA7-347F-90C2-AC1E-5351DB441802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10059518" y="2800664"/>
            <a:ext cx="0" cy="3371536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TLSHAPE_SLT_ea87503ca9094628925163df8b9088fa_Shape">
            <a:extLst>
              <a:ext uri="{FF2B5EF4-FFF2-40B4-BE49-F238E27FC236}">
                <a16:creationId xmlns:a16="http://schemas.microsoft.com/office/drawing/2014/main" id="{7212970E-BECB-B4EA-621E-763D705E318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536251" y="3236732"/>
            <a:ext cx="848242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OTLSHAPE_SLT_486eff3e378440eba51710a196cd3cfb_Shape">
            <a:extLst>
              <a:ext uri="{FF2B5EF4-FFF2-40B4-BE49-F238E27FC236}">
                <a16:creationId xmlns:a16="http://schemas.microsoft.com/office/drawing/2014/main" id="{CA2DF0AA-9502-C4C3-E3CF-E72C60A181E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245437" y="3761875"/>
            <a:ext cx="1184614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OTLSHAPE_SLT_6c7f7656b39b465b9c992f5f5b526990_Shape">
            <a:extLst>
              <a:ext uri="{FF2B5EF4-FFF2-40B4-BE49-F238E27FC236}">
                <a16:creationId xmlns:a16="http://schemas.microsoft.com/office/drawing/2014/main" id="{17CBBF54-75FE-71D4-FF26-B0F13F5FE72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430051" y="4148206"/>
            <a:ext cx="953793" cy="168444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OTLSHAPE_SLT_2079cee5365e402ea6dd8f4230899321_Shape">
            <a:extLst>
              <a:ext uri="{FF2B5EF4-FFF2-40B4-BE49-F238E27FC236}">
                <a16:creationId xmlns:a16="http://schemas.microsoft.com/office/drawing/2014/main" id="{E750110F-1B88-25EA-B565-A1D5CF12558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185783" y="3163908"/>
            <a:ext cx="13843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OTLSHAPE_SLT_e8f467918c0a4370be6a026c6510e93c_Shape">
            <a:extLst>
              <a:ext uri="{FF2B5EF4-FFF2-40B4-BE49-F238E27FC236}">
                <a16:creationId xmlns:a16="http://schemas.microsoft.com/office/drawing/2014/main" id="{47560783-0AB8-A357-01D2-8F904B353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038841" y="4468326"/>
            <a:ext cx="15240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TLSHAPE_SLT_d7748cbcd27c44b2a1e3d0cde64c659c_Shape">
            <a:extLst>
              <a:ext uri="{FF2B5EF4-FFF2-40B4-BE49-F238E27FC236}">
                <a16:creationId xmlns:a16="http://schemas.microsoft.com/office/drawing/2014/main" id="{B91FA8C5-E9C2-6EAB-E831-E2DB2F389950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121387" y="4999235"/>
            <a:ext cx="1502726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OTLSHAPE_TB_00000000000000000000000000000000_ElapsedTime">
            <a:extLst>
              <a:ext uri="{FF2B5EF4-FFF2-40B4-BE49-F238E27FC236}">
                <a16:creationId xmlns:a16="http://schemas.microsoft.com/office/drawing/2014/main" id="{7B9E1A89-519D-BE59-1738-69FEB3A115A7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092200" y="2419664"/>
            <a:ext cx="685800" cy="381000"/>
          </a:xfrm>
          <a:prstGeom prst="snip2DiagRect">
            <a:avLst>
              <a:gd name="adj1" fmla="val 100000"/>
              <a:gd name="adj2" fmla="val 30000"/>
            </a:avLst>
          </a:prstGeom>
          <a:solidFill>
            <a:schemeClr val="bg2">
              <a:alpha val="30196"/>
            </a:schemeClr>
          </a:solidFill>
          <a:ln w="1397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OTLSHAPE_TB_00000000000000000000000000000000_TimescaleInterval1">
            <a:extLst>
              <a:ext uri="{FF2B5EF4-FFF2-40B4-BE49-F238E27FC236}">
                <a16:creationId xmlns:a16="http://schemas.microsoft.com/office/drawing/2014/main" id="{F4B535B9-FB13-5B69-F9B3-87496B47126F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320800" y="2517136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</a:t>
            </a:r>
          </a:p>
        </p:txBody>
      </p:sp>
      <p:sp>
        <p:nvSpPr>
          <p:cNvPr id="196" name="OTLSHAPE_TB_00000000000000000000000000000000_TimescaleInterval2">
            <a:extLst>
              <a:ext uri="{FF2B5EF4-FFF2-40B4-BE49-F238E27FC236}">
                <a16:creationId xmlns:a16="http://schemas.microsoft.com/office/drawing/2014/main" id="{70EA47D5-769E-E095-1FB3-DD749234EC90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2407494" y="2517136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</a:t>
            </a:r>
          </a:p>
        </p:txBody>
      </p:sp>
      <p:sp>
        <p:nvSpPr>
          <p:cNvPr id="197" name="OTLSHAPE_TB_00000000000000000000000000000000_TimescaleInterval3">
            <a:extLst>
              <a:ext uri="{FF2B5EF4-FFF2-40B4-BE49-F238E27FC236}">
                <a16:creationId xmlns:a16="http://schemas.microsoft.com/office/drawing/2014/main" id="{474A454E-5954-820F-77B7-10E291476978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530410" y="2517136"/>
            <a:ext cx="24397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</a:t>
            </a:r>
          </a:p>
        </p:txBody>
      </p:sp>
      <p:sp>
        <p:nvSpPr>
          <p:cNvPr id="198" name="OTLSHAPE_TB_00000000000000000000000000000000_TimescaleInterval4">
            <a:extLst>
              <a:ext uri="{FF2B5EF4-FFF2-40B4-BE49-F238E27FC236}">
                <a16:creationId xmlns:a16="http://schemas.microsoft.com/office/drawing/2014/main" id="{39961EF9-5D54-F59A-2A0E-5F68DB228530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617104" y="2517136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</a:p>
        </p:txBody>
      </p:sp>
      <p:sp>
        <p:nvSpPr>
          <p:cNvPr id="199" name="OTLSHAPE_TB_00000000000000000000000000000000_TimescaleInterval5">
            <a:extLst>
              <a:ext uri="{FF2B5EF4-FFF2-40B4-BE49-F238E27FC236}">
                <a16:creationId xmlns:a16="http://schemas.microsoft.com/office/drawing/2014/main" id="{C64F9A86-9286-5238-76DC-6651DDA03A7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5740021" y="2517136"/>
            <a:ext cx="30495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200" name="OTLSHAPE_TB_00000000000000000000000000000000_TimescaleInterval6">
            <a:extLst>
              <a:ext uri="{FF2B5EF4-FFF2-40B4-BE49-F238E27FC236}">
                <a16:creationId xmlns:a16="http://schemas.microsoft.com/office/drawing/2014/main" id="{A44ECD9B-DAC3-6A51-D994-6AE18600FB3B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862938" y="2517136"/>
            <a:ext cx="219227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</a:p>
        </p:txBody>
      </p:sp>
      <p:sp>
        <p:nvSpPr>
          <p:cNvPr id="201" name="OTLSHAPE_TB_00000000000000000000000000000000_TimescaleInterval7">
            <a:extLst>
              <a:ext uri="{FF2B5EF4-FFF2-40B4-BE49-F238E27FC236}">
                <a16:creationId xmlns:a16="http://schemas.microsoft.com/office/drawing/2014/main" id="{2408C05D-DA5F-AA00-A442-837D18D6535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913408" y="2517136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</a:t>
            </a:r>
          </a:p>
        </p:txBody>
      </p:sp>
      <p:sp>
        <p:nvSpPr>
          <p:cNvPr id="202" name="OTLSHAPE_TB_00000000000000000000000000000000_TimescaleInterval8">
            <a:extLst>
              <a:ext uri="{FF2B5EF4-FFF2-40B4-BE49-F238E27FC236}">
                <a16:creationId xmlns:a16="http://schemas.microsoft.com/office/drawing/2014/main" id="{2427DF44-98C8-023E-1FD3-3F8963502364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9036324" y="2517136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</a:t>
            </a:r>
          </a:p>
        </p:txBody>
      </p:sp>
      <p:sp>
        <p:nvSpPr>
          <p:cNvPr id="203" name="OTLSHAPE_TB_00000000000000000000000000000000_TimescaleInterval9">
            <a:extLst>
              <a:ext uri="{FF2B5EF4-FFF2-40B4-BE49-F238E27FC236}">
                <a16:creationId xmlns:a16="http://schemas.microsoft.com/office/drawing/2014/main" id="{B91292C9-A893-80C2-9E12-FD2E9872AFA8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0123019" y="2517136"/>
            <a:ext cx="26815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</a:p>
        </p:txBody>
      </p:sp>
      <p:sp>
        <p:nvSpPr>
          <p:cNvPr id="204" name="OTLSHAPE_SLT_ea87503ca9094628925163df8b9088fa_JoinedDate">
            <a:extLst>
              <a:ext uri="{FF2B5EF4-FFF2-40B4-BE49-F238E27FC236}">
                <a16:creationId xmlns:a16="http://schemas.microsoft.com/office/drawing/2014/main" id="{A35F4341-51E2-12E1-26EC-4E4C094D8E43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2516139" y="3247411"/>
            <a:ext cx="723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  –  Oct </a:t>
            </a:r>
          </a:p>
        </p:txBody>
      </p:sp>
      <p:sp>
        <p:nvSpPr>
          <p:cNvPr id="205" name="OTLSHAPE_SLT_486eff3e378440eba51710a196cd3cfb_Title">
            <a:extLst>
              <a:ext uri="{FF2B5EF4-FFF2-40B4-BE49-F238E27FC236}">
                <a16:creationId xmlns:a16="http://schemas.microsoft.com/office/drawing/2014/main" id="{E9C45BD4-ADE8-9274-AC65-3D050102F17A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2543260" y="4083606"/>
            <a:ext cx="1018635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  <a:p>
            <a:pPr algn="ctr"/>
            <a:r>
              <a:rPr lang="en-US" sz="1000" dirty="0"/>
              <a:t>Dataset Collection</a:t>
            </a:r>
          </a:p>
          <a:p>
            <a:pPr algn="ctr"/>
            <a:r>
              <a:rPr lang="en-US" sz="1000" dirty="0"/>
              <a:t>&amp; Preprocessing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TLSHAPE_SLT_486eff3e378440eba51710a196cd3cfb_JoinedDate">
            <a:extLst>
              <a:ext uri="{FF2B5EF4-FFF2-40B4-BE49-F238E27FC236}">
                <a16:creationId xmlns:a16="http://schemas.microsoft.com/office/drawing/2014/main" id="{E07C7E61-07D0-DC69-AB0E-005FEA66D26B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500117" y="3778990"/>
            <a:ext cx="800095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</a:t>
            </a:r>
          </a:p>
        </p:txBody>
      </p:sp>
      <p:sp>
        <p:nvSpPr>
          <p:cNvPr id="207" name="OTLSHAPE_SLT_6c7f7656b39b465b9c992f5f5b526990_Title">
            <a:extLst>
              <a:ext uri="{FF2B5EF4-FFF2-40B4-BE49-F238E27FC236}">
                <a16:creationId xmlns:a16="http://schemas.microsoft.com/office/drawing/2014/main" id="{BA1B9A11-F448-CFA2-CA5D-62A0A49FB5EA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753981" y="3092668"/>
            <a:ext cx="69850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pPr algn="ctr"/>
            <a:r>
              <a:rPr lang="en-US" sz="1000" dirty="0"/>
              <a:t>Initial Research &amp; Planning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TLSHAPE_SLT_6c7f7656b39b465b9c992f5f5b526990_JoinedDate">
            <a:extLst>
              <a:ext uri="{FF2B5EF4-FFF2-40B4-BE49-F238E27FC236}">
                <a16:creationId xmlns:a16="http://schemas.microsoft.com/office/drawing/2014/main" id="{6111030F-AE83-D4B6-C302-CB1BE43AA458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4434427" y="4145165"/>
            <a:ext cx="8001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  - Nov </a:t>
            </a:r>
          </a:p>
        </p:txBody>
      </p:sp>
      <p:sp>
        <p:nvSpPr>
          <p:cNvPr id="209" name="OTLSHAPE_SLT_9b5efc5b5770438cbeffd648476cd3a3_Title">
            <a:extLst>
              <a:ext uri="{FF2B5EF4-FFF2-40B4-BE49-F238E27FC236}">
                <a16:creationId xmlns:a16="http://schemas.microsoft.com/office/drawing/2014/main" id="{27BDA7E6-907C-1108-CB70-67E784DDE5D2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1506934" y="3732621"/>
            <a:ext cx="769452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  <a:p>
            <a:pPr algn="ctr"/>
            <a:r>
              <a:rPr lang="en-US" sz="1000" dirty="0"/>
              <a:t>Literature Overview</a:t>
            </a:r>
          </a:p>
          <a:p>
            <a:pPr algn="ctr"/>
            <a:r>
              <a:rPr lang="en-US" sz="1000" dirty="0"/>
              <a:t>&amp; Design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OTLSHAPE_SLT_2079cee5365e402ea6dd8f4230899321_Title">
            <a:extLst>
              <a:ext uri="{FF2B5EF4-FFF2-40B4-BE49-F238E27FC236}">
                <a16:creationId xmlns:a16="http://schemas.microsoft.com/office/drawing/2014/main" id="{874EA38F-C799-6613-2A9A-8FBE3580AD24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5361203" y="3218617"/>
            <a:ext cx="951212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pPr algn="ctr"/>
            <a:r>
              <a:rPr lang="en-US" sz="1000" dirty="0"/>
              <a:t>Advanced Model Development &amp; Training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OTLSHAPE_SLT_2079cee5365e402ea6dd8f4230899321_JoinedDate">
            <a:extLst>
              <a:ext uri="{FF2B5EF4-FFF2-40B4-BE49-F238E27FC236}">
                <a16:creationId xmlns:a16="http://schemas.microsoft.com/office/drawing/2014/main" id="{6037F1F4-30B7-6892-CFD0-699E545F46D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7727703" y="3196258"/>
            <a:ext cx="774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  -  Feb </a:t>
            </a:r>
          </a:p>
        </p:txBody>
      </p:sp>
      <p:sp>
        <p:nvSpPr>
          <p:cNvPr id="213" name="OTLSHAPE_SLT_e8f467918c0a4370be6a026c6510e93c_Title">
            <a:extLst>
              <a:ext uri="{FF2B5EF4-FFF2-40B4-BE49-F238E27FC236}">
                <a16:creationId xmlns:a16="http://schemas.microsoft.com/office/drawing/2014/main" id="{95A0168A-F036-7D17-F261-B93709617EFE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7132009" y="4316650"/>
            <a:ext cx="1018921" cy="92333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Task3</a:t>
            </a:r>
          </a:p>
          <a:p>
            <a:pPr algn="ctr"/>
            <a:r>
              <a:rPr lang="en-US" sz="1000" dirty="0"/>
              <a:t>Testing, Evaluation,  Optimization &amp;</a:t>
            </a:r>
          </a:p>
          <a:p>
            <a:pPr algn="ctr"/>
            <a:r>
              <a:rPr lang="en-US" sz="1000" dirty="0"/>
              <a:t>Deployment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OTLSHAPE_SLT_e8f467918c0a4370be6a026c6510e93c_JoinedDate">
            <a:extLst>
              <a:ext uri="{FF2B5EF4-FFF2-40B4-BE49-F238E27FC236}">
                <a16:creationId xmlns:a16="http://schemas.microsoft.com/office/drawing/2014/main" id="{648FC6A3-85DE-18F4-99E3-33BDEDEA55EF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9598347" y="4468326"/>
            <a:ext cx="909086" cy="14045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  -  Apr</a:t>
            </a:r>
          </a:p>
        </p:txBody>
      </p:sp>
      <p:sp>
        <p:nvSpPr>
          <p:cNvPr id="215" name="OTLSHAPE_SLT_d7748cbcd27c44b2a1e3d0cde64c659c_Title">
            <a:extLst>
              <a:ext uri="{FF2B5EF4-FFF2-40B4-BE49-F238E27FC236}">
                <a16:creationId xmlns:a16="http://schemas.microsoft.com/office/drawing/2014/main" id="{E6B918E8-2DD4-B1DA-D906-A79D498762C7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8188339" y="4999235"/>
            <a:ext cx="1092523" cy="92333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4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 4</a:t>
            </a:r>
          </a:p>
          <a:p>
            <a:pPr algn="ctr"/>
            <a:r>
              <a:rPr lang="en-US" sz="1000" dirty="0"/>
              <a:t>Final Documentation &amp; Presentation Preparation</a:t>
            </a:r>
          </a:p>
          <a:p>
            <a:pPr algn="ctr"/>
            <a:endParaRPr lang="en-US" sz="1000" b="1" spc="-14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OTLSHAPE_SLT_d7748cbcd27c44b2a1e3d0cde64c659c_JoinedDate">
            <a:extLst>
              <a:ext uri="{FF2B5EF4-FFF2-40B4-BE49-F238E27FC236}">
                <a16:creationId xmlns:a16="http://schemas.microsoft.com/office/drawing/2014/main" id="{5FE54345-0B79-5A3D-0129-1089296E590B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10642298" y="4999235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  - May</a:t>
            </a:r>
          </a:p>
        </p:txBody>
      </p:sp>
      <p:cxnSp>
        <p:nvCxnSpPr>
          <p:cNvPr id="217" name="OTLSHAPE_TB_00000000000000000000000000000000_Separator1">
            <a:extLst>
              <a:ext uri="{FF2B5EF4-FFF2-40B4-BE49-F238E27FC236}">
                <a16:creationId xmlns:a16="http://schemas.microsoft.com/office/drawing/2014/main" id="{6A494806-C8FD-03D7-689E-183AB4DBEF6A}"/>
              </a:ext>
            </a:extLst>
          </p:cNvPr>
          <p:cNvCxnSpPr/>
          <p:nvPr>
            <p:custDataLst>
              <p:tags r:id="rId40"/>
            </p:custDataLst>
          </p:nvPr>
        </p:nvCxnSpPr>
        <p:spPr>
          <a:xfrm>
            <a:off x="2343993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OTLSHAPE_TB_00000000000000000000000000000000_Separator2">
            <a:extLst>
              <a:ext uri="{FF2B5EF4-FFF2-40B4-BE49-F238E27FC236}">
                <a16:creationId xmlns:a16="http://schemas.microsoft.com/office/drawing/2014/main" id="{4D255673-AAC4-15D0-F85E-6AFE80570674}"/>
              </a:ext>
            </a:extLst>
          </p:cNvPr>
          <p:cNvCxnSpPr/>
          <p:nvPr>
            <p:custDataLst>
              <p:tags r:id="rId41"/>
            </p:custDataLst>
          </p:nvPr>
        </p:nvCxnSpPr>
        <p:spPr>
          <a:xfrm>
            <a:off x="3466910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OTLSHAPE_TB_00000000000000000000000000000000_Separator3">
            <a:extLst>
              <a:ext uri="{FF2B5EF4-FFF2-40B4-BE49-F238E27FC236}">
                <a16:creationId xmlns:a16="http://schemas.microsoft.com/office/drawing/2014/main" id="{706E8B65-ECDA-B1D8-B6C9-20A1F6F0BC42}"/>
              </a:ext>
            </a:extLst>
          </p:cNvPr>
          <p:cNvCxnSpPr/>
          <p:nvPr>
            <p:custDataLst>
              <p:tags r:id="rId42"/>
            </p:custDataLst>
          </p:nvPr>
        </p:nvCxnSpPr>
        <p:spPr>
          <a:xfrm>
            <a:off x="4553603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OTLSHAPE_TB_00000000000000000000000000000000_Separator4">
            <a:extLst>
              <a:ext uri="{FF2B5EF4-FFF2-40B4-BE49-F238E27FC236}">
                <a16:creationId xmlns:a16="http://schemas.microsoft.com/office/drawing/2014/main" id="{B3C2E51E-897D-3D21-9E78-E4B856CC1382}"/>
              </a:ext>
            </a:extLst>
          </p:cNvPr>
          <p:cNvCxnSpPr/>
          <p:nvPr>
            <p:custDataLst>
              <p:tags r:id="rId43"/>
            </p:custDataLst>
          </p:nvPr>
        </p:nvCxnSpPr>
        <p:spPr>
          <a:xfrm>
            <a:off x="5676520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OTLSHAPE_TB_00000000000000000000000000000000_Separator5">
            <a:extLst>
              <a:ext uri="{FF2B5EF4-FFF2-40B4-BE49-F238E27FC236}">
                <a16:creationId xmlns:a16="http://schemas.microsoft.com/office/drawing/2014/main" id="{1167D5A7-2775-4790-8FB4-72433D4066F9}"/>
              </a:ext>
            </a:extLst>
          </p:cNvPr>
          <p:cNvCxnSpPr/>
          <p:nvPr>
            <p:custDataLst>
              <p:tags r:id="rId44"/>
            </p:custDataLst>
          </p:nvPr>
        </p:nvCxnSpPr>
        <p:spPr>
          <a:xfrm>
            <a:off x="6799437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OTLSHAPE_TB_00000000000000000000000000000000_Separator6">
            <a:extLst>
              <a:ext uri="{FF2B5EF4-FFF2-40B4-BE49-F238E27FC236}">
                <a16:creationId xmlns:a16="http://schemas.microsoft.com/office/drawing/2014/main" id="{B548B674-D85A-BD22-E401-3000AFC09C20}"/>
              </a:ext>
            </a:extLst>
          </p:cNvPr>
          <p:cNvCxnSpPr/>
          <p:nvPr>
            <p:custDataLst>
              <p:tags r:id="rId45"/>
            </p:custDataLst>
          </p:nvPr>
        </p:nvCxnSpPr>
        <p:spPr>
          <a:xfrm>
            <a:off x="7849908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OTLSHAPE_TB_00000000000000000000000000000000_Separator7">
            <a:extLst>
              <a:ext uri="{FF2B5EF4-FFF2-40B4-BE49-F238E27FC236}">
                <a16:creationId xmlns:a16="http://schemas.microsoft.com/office/drawing/2014/main" id="{547A6300-79D8-4606-ED49-067B59EE6CE7}"/>
              </a:ext>
            </a:extLst>
          </p:cNvPr>
          <p:cNvCxnSpPr/>
          <p:nvPr>
            <p:custDataLst>
              <p:tags r:id="rId46"/>
            </p:custDataLst>
          </p:nvPr>
        </p:nvCxnSpPr>
        <p:spPr>
          <a:xfrm>
            <a:off x="8972824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OTLSHAPE_TB_00000000000000000000000000000000_Separator8">
            <a:extLst>
              <a:ext uri="{FF2B5EF4-FFF2-40B4-BE49-F238E27FC236}">
                <a16:creationId xmlns:a16="http://schemas.microsoft.com/office/drawing/2014/main" id="{B75C666F-8CA4-1486-8E22-B88F06E630CC}"/>
              </a:ext>
            </a:extLst>
          </p:cNvPr>
          <p:cNvCxnSpPr/>
          <p:nvPr>
            <p:custDataLst>
              <p:tags r:id="rId47"/>
            </p:custDataLst>
          </p:nvPr>
        </p:nvCxnSpPr>
        <p:spPr>
          <a:xfrm>
            <a:off x="10059518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TLSHAPE_TB_00000000000000000000000000000000_TodayMarkerShape">
            <a:extLst>
              <a:ext uri="{FF2B5EF4-FFF2-40B4-BE49-F238E27FC236}">
                <a16:creationId xmlns:a16="http://schemas.microsoft.com/office/drawing/2014/main" id="{631EB011-2208-F718-BF58-D2CFE4345180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7754995" y="2874748"/>
            <a:ext cx="189825" cy="139197"/>
          </a:xfrm>
          <a:prstGeom prst="triangle">
            <a:avLst/>
          </a:prstGeom>
          <a:solidFill>
            <a:srgbClr val="FF0000"/>
          </a:solidFill>
          <a:ln w="1397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397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TLSHAPE_SLT_6c7f7656b39b465b9c992f5f5b526990_Shape">
            <a:extLst>
              <a:ext uri="{FF2B5EF4-FFF2-40B4-BE49-F238E27FC236}">
                <a16:creationId xmlns:a16="http://schemas.microsoft.com/office/drawing/2014/main" id="{6EEEE145-1984-D3F2-EEF6-7426F6B2814B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4164856" y="4557969"/>
            <a:ext cx="953793" cy="168444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TLSHAPE_SLT_486eff3e378440eba51710a196cd3cfb_Title">
            <a:extLst>
              <a:ext uri="{FF2B5EF4-FFF2-40B4-BE49-F238E27FC236}">
                <a16:creationId xmlns:a16="http://schemas.microsoft.com/office/drawing/2014/main" id="{6CBA84BC-7BFE-5E3B-A808-6C72348EADC3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3397629" y="4599700"/>
            <a:ext cx="1018635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</a:p>
          <a:p>
            <a:pPr algn="ctr"/>
            <a:r>
              <a:rPr lang="en-US" sz="1000" dirty="0"/>
              <a:t>Model Design &amp; Development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TLSHAPE_SLT_6c7f7656b39b465b9c992f5f5b526990_JoinedDate">
            <a:extLst>
              <a:ext uri="{FF2B5EF4-FFF2-40B4-BE49-F238E27FC236}">
                <a16:creationId xmlns:a16="http://schemas.microsoft.com/office/drawing/2014/main" id="{446C03CB-C2E3-2224-5A02-E705961A7672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5199292" y="4582285"/>
            <a:ext cx="8001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  -  Dec</a:t>
            </a:r>
          </a:p>
        </p:txBody>
      </p:sp>
      <p:sp>
        <p:nvSpPr>
          <p:cNvPr id="7" name="OTLSHAPE_SLT_2079cee5365e402ea6dd8f4230899321_Shape">
            <a:extLst>
              <a:ext uri="{FF2B5EF4-FFF2-40B4-BE49-F238E27FC236}">
                <a16:creationId xmlns:a16="http://schemas.microsoft.com/office/drawing/2014/main" id="{752A5E4B-0921-3041-D622-21D3E96A6CBF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6902682" y="3859910"/>
            <a:ext cx="959018" cy="18134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TLSHAPE_SLT_2079cee5365e402ea6dd8f4230899321_Title">
            <a:extLst>
              <a:ext uri="{FF2B5EF4-FFF2-40B4-BE49-F238E27FC236}">
                <a16:creationId xmlns:a16="http://schemas.microsoft.com/office/drawing/2014/main" id="{E950054F-ACD7-99EF-CA2E-1729BC5D734A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6093068" y="3902224"/>
            <a:ext cx="951212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Task2</a:t>
            </a:r>
          </a:p>
          <a:p>
            <a:pPr algn="ctr"/>
            <a:r>
              <a:rPr lang="en-US" sz="1000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Development</a:t>
            </a:r>
            <a:endParaRPr lang="en-US" sz="1000" dirty="0"/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TLSHAPE_SLT_2079cee5365e402ea6dd8f4230899321_JoinedDate">
            <a:extLst>
              <a:ext uri="{FF2B5EF4-FFF2-40B4-BE49-F238E27FC236}">
                <a16:creationId xmlns:a16="http://schemas.microsoft.com/office/drawing/2014/main" id="{02445A3C-E3D4-A5F5-D313-B3E8B09BAF93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7954220" y="3863144"/>
            <a:ext cx="774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</a:t>
            </a:r>
          </a:p>
        </p:txBody>
      </p:sp>
      <p:pic>
        <p:nvPicPr>
          <p:cNvPr id="5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B8D3368E-92E2-6AEB-DBD5-07CB597406AA}"/>
              </a:ext>
            </a:extLst>
          </p:cNvPr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7473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5F273-831C-D137-D2D2-FFD9F0B2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0;g300977dccdd_0_10">
            <a:extLst>
              <a:ext uri="{FF2B5EF4-FFF2-40B4-BE49-F238E27FC236}">
                <a16:creationId xmlns:a16="http://schemas.microsoft.com/office/drawing/2014/main" id="{16B333BB-4304-C974-AF81-C0F27AC3A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7488" y="589548"/>
            <a:ext cx="9692640" cy="87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Teamwork FYP-1</a:t>
            </a:r>
            <a:endParaRPr lang="en-US" sz="4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F1090-8FF6-871C-2298-9C47C01C3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522" y="1552075"/>
            <a:ext cx="8515710" cy="4806614"/>
          </a:xfrm>
        </p:spPr>
        <p:txBody>
          <a:bodyPr>
            <a:normAutofit lnSpcReduction="10000"/>
          </a:bodyPr>
          <a:lstStyle/>
          <a:p>
            <a:pPr marL="137160" indent="0">
              <a:buNone/>
            </a:pPr>
            <a:r>
              <a:rPr lang="en-US" b="1" dirty="0"/>
              <a:t>Member 1</a:t>
            </a:r>
          </a:p>
          <a:p>
            <a:r>
              <a:rPr lang="en-US" dirty="0"/>
              <a:t>Collect and preprocess flood and disease datasets (NIH, WHO, historical reports).</a:t>
            </a:r>
          </a:p>
          <a:p>
            <a:r>
              <a:rPr lang="en-US" dirty="0"/>
              <a:t>Develop the basic Frontend.</a:t>
            </a:r>
          </a:p>
          <a:p>
            <a:r>
              <a:rPr lang="en-US" dirty="0"/>
              <a:t>Develop predictive model for post-flood disease risks.</a:t>
            </a:r>
          </a:p>
          <a:p>
            <a:r>
              <a:rPr lang="en-US" dirty="0"/>
              <a:t>Ensure accuracy through model testing and evaluation.</a:t>
            </a:r>
          </a:p>
          <a:p>
            <a:pPr>
              <a:buNone/>
            </a:pPr>
            <a:r>
              <a:rPr lang="en-US" b="1" dirty="0"/>
              <a:t>Member 2</a:t>
            </a:r>
          </a:p>
          <a:p>
            <a:r>
              <a:rPr lang="en-US" dirty="0"/>
              <a:t>Collect and preprocess flood and disease datasets (NIH, WHO, historical reports).</a:t>
            </a:r>
          </a:p>
          <a:p>
            <a:r>
              <a:rPr lang="en-US" dirty="0"/>
              <a:t>Develop the Pre-Processing Data Pipeline.</a:t>
            </a:r>
          </a:p>
          <a:p>
            <a:r>
              <a:rPr lang="en-US" dirty="0"/>
              <a:t>Develop predictive model for post-flood disease risks.</a:t>
            </a:r>
          </a:p>
          <a:p>
            <a:r>
              <a:rPr lang="en-US" dirty="0"/>
              <a:t>Ensure accuracy through model testing and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26B8B-7DDA-7E99-AD78-5008331B42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7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5C30C0FF-D5F5-7C61-CE3D-3B236FD1E9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5545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905F-E50C-8FB6-7EB0-CFC6F46E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083" y="255771"/>
            <a:ext cx="9692640" cy="958533"/>
          </a:xfrm>
        </p:spPr>
        <p:txBody>
          <a:bodyPr/>
          <a:lstStyle/>
          <a:p>
            <a:r>
              <a:rPr lang="en-US" dirty="0"/>
              <a:t>GitHub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12C65-69C4-55F0-2CC9-910C51B1A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5619" y="1521995"/>
            <a:ext cx="8808560" cy="435133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dirty="0">
              <a:solidFill>
                <a:schemeClr val="tx1"/>
              </a:solidFill>
            </a:endParaRPr>
          </a:p>
          <a:p>
            <a:pPr marL="13716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1E22B7-FBC3-B3F4-E60B-370BC5122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184" y="2285747"/>
            <a:ext cx="8055142" cy="4230603"/>
          </a:xfrm>
          <a:prstGeom prst="rect">
            <a:avLst/>
          </a:prstGeom>
        </p:spPr>
      </p:pic>
      <p:pic>
        <p:nvPicPr>
          <p:cNvPr id="6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F2246E74-0C7C-99A4-F89B-8F4E2668AA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841A-4B22-7178-DD54-D2FEEF35BF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0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40344-2476-544C-6119-2F153B2D4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414" y="1270094"/>
            <a:ext cx="10559414" cy="4902106"/>
          </a:xfrm>
        </p:spPr>
        <p:txBody>
          <a:bodyPr>
            <a:noAutofit/>
          </a:bodyPr>
          <a:lstStyle/>
          <a:p>
            <a:pPr marL="228600" indent="0"/>
            <a:r>
              <a:rPr lang="en-US" sz="1200" dirty="0"/>
              <a:t>[1] L. I. Vohra, M. Aqib, H. Jamal, Q. Mehmood, and F. Yasin, “Rising cases of dengue and malaria in flood affected areas of Pakistan: A major threat to the country’s healthcare system,” </a:t>
            </a:r>
            <a:r>
              <a:rPr lang="en-US" sz="1200" i="1" dirty="0"/>
              <a:t>Disaster Medicine and Public Health Preparedness</a:t>
            </a:r>
            <a:r>
              <a:rPr lang="en-US" sz="1200" dirty="0"/>
              <a:t>, vol. 17, no. 5, pp. 1–2, 2023. [Online]. Available: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https://www.cambridge.org/core/services/aop-cambridge-core/content/view/87D81594995B2FE8A4854FC436C7A522/S1935789322002932a.pdf</a:t>
            </a:r>
            <a:endParaRPr lang="en-US" sz="1200" dirty="0"/>
          </a:p>
          <a:p>
            <a:pPr marL="228600" indent="0"/>
            <a:r>
              <a:rPr lang="en-US" sz="1200" dirty="0"/>
              <a:t>[2] N. Nisar, Z. Iqbal, M. Sartaaj, A. Ikram, N. Javad, K. Ali, J. Anjum, M. A. K. Bettani, W. Shah, N. Tanveer, P. Cleary, C. Byers, A. Wilson, M. Salman, and M. A. </a:t>
            </a:r>
            <a:r>
              <a:rPr lang="en-US" sz="1200" dirty="0" err="1"/>
              <a:t>Aldeyab</a:t>
            </a:r>
            <a:r>
              <a:rPr lang="en-US" sz="1200" dirty="0"/>
              <a:t>, “Mortality associated with priority diseases in flood-affected areas using District Health Information System (DHIS2) during September–December 2022: Pakistan experience,” </a:t>
            </a:r>
            <a:r>
              <a:rPr lang="en-US" sz="1200" i="1" dirty="0"/>
              <a:t>Disaster Medicine and Public Health Preparedness</a:t>
            </a:r>
            <a:r>
              <a:rPr lang="en-US" sz="1200" dirty="0"/>
              <a:t>, vol. 18, art. e89, 2024. [Online]. Available:</a:t>
            </a:r>
            <a:br>
              <a:rPr lang="en-US" sz="1200" dirty="0"/>
            </a:br>
            <a:r>
              <a:rPr lang="en-US" sz="1200" dirty="0">
                <a:hlinkClick r:id="rId3"/>
              </a:rPr>
              <a:t>https://www.cambridge.org/core/services/aop-cambridge-core/content/view/B78C75F357F634F146C98FB60B24C6EF/S1935789324000776a.pdf</a:t>
            </a:r>
            <a:endParaRPr lang="en-US" sz="1200" dirty="0"/>
          </a:p>
          <a:p>
            <a:pPr marL="228600" indent="0"/>
            <a:r>
              <a:rPr lang="en-US" sz="1200" dirty="0"/>
              <a:t>[3] H. Schultz, “A Climate Change Calamity: Assessing the Impact of Flooding on Waterborne Disease Burden in Pakistan,” M.P.H. thesis, Yale School of Public Health, New Haven, CT, Jan. 2024. [Online]. Available:</a:t>
            </a:r>
            <a:br>
              <a:rPr lang="en-US" sz="1200" dirty="0"/>
            </a:br>
            <a:r>
              <a:rPr lang="en-US" sz="1200" dirty="0">
                <a:hlinkClick r:id="rId4"/>
              </a:rPr>
              <a:t>https://elischolar.library.yale.edu/cgi/viewcontent.cgi?article=2432&amp;context=ysphtdl</a:t>
            </a:r>
            <a:endParaRPr lang="en-US" sz="1200" dirty="0"/>
          </a:p>
          <a:p>
            <a:pPr marL="228600" indent="0"/>
            <a:r>
              <a:rPr lang="en-US" sz="1200" dirty="0"/>
              <a:t>[4] M. Hussain, M. A. </a:t>
            </a:r>
            <a:r>
              <a:rPr lang="en-US" sz="1200" dirty="0" err="1"/>
              <a:t>Cifci</a:t>
            </a:r>
            <a:r>
              <a:rPr lang="en-US" sz="1200" dirty="0"/>
              <a:t>, T. Sehar, S. Nawaz, and K. Rashid, “Machine learning based efficient prediction of positive cases of waterborne diseases,” </a:t>
            </a:r>
            <a:r>
              <a:rPr lang="en-US" sz="1200" i="1" dirty="0"/>
              <a:t>BMC Medical Informatics and Decision Making</a:t>
            </a:r>
            <a:r>
              <a:rPr lang="en-US" sz="1200" dirty="0"/>
              <a:t>, vol. 23, no. 11, pp. 1–16, 2023. [Online]. Available:</a:t>
            </a:r>
            <a:br>
              <a:rPr lang="en-US" sz="1200" dirty="0"/>
            </a:br>
            <a:r>
              <a:rPr lang="en-US" sz="1200" dirty="0">
                <a:hlinkClick r:id="rId5"/>
              </a:rPr>
              <a:t>https://link.springer.com/content/pdf/10.1186/s12911-022-02092-1.pdf</a:t>
            </a:r>
            <a:endParaRPr lang="en-US" sz="1200" dirty="0"/>
          </a:p>
          <a:p>
            <a:pPr marL="228600" indent="0"/>
            <a:r>
              <a:rPr lang="en-US" sz="1200" dirty="0"/>
              <a:t>[5] V. </a:t>
            </a:r>
            <a:r>
              <a:rPr lang="en-US" sz="1200" dirty="0" err="1"/>
              <a:t>Jayaramu</a:t>
            </a:r>
            <a:r>
              <a:rPr lang="en-US" sz="1200" dirty="0"/>
              <a:t>, Z. </a:t>
            </a:r>
            <a:r>
              <a:rPr lang="en-US" sz="1200" dirty="0" err="1"/>
              <a:t>Zulkafli</a:t>
            </a:r>
            <a:r>
              <a:rPr lang="en-US" sz="1200" dirty="0"/>
              <a:t>, S. De </a:t>
            </a:r>
            <a:r>
              <a:rPr lang="en-US" sz="1200" dirty="0" err="1"/>
              <a:t>Stercke</a:t>
            </a:r>
            <a:r>
              <a:rPr lang="en-US" sz="1200" dirty="0"/>
              <a:t>, M. N. Ahmad, and N. R. Abdullah, “Leptospirosis modelling using hydrometeorological indices and random forest machine learning,” </a:t>
            </a:r>
            <a:r>
              <a:rPr lang="en-US" sz="1200" i="1" dirty="0"/>
              <a:t>International Journal of Biometeorology</a:t>
            </a:r>
            <a:r>
              <a:rPr lang="en-US" sz="1200" dirty="0"/>
              <a:t>, vol. 67, no. 3, pp. 423–437, 2023. [Online]. Available:</a:t>
            </a:r>
            <a:br>
              <a:rPr lang="en-US" sz="1200" dirty="0"/>
            </a:br>
            <a:r>
              <a:rPr lang="en-US" sz="1200" dirty="0">
                <a:hlinkClick r:id="rId6"/>
              </a:rPr>
              <a:t>http://irep.iium.edu.my/110725/8/110725_Leptospirosis%20modelling%20using%20hydrometeorological_Scopus.pdf</a:t>
            </a:r>
            <a:endParaRPr lang="en-US" sz="1200" dirty="0"/>
          </a:p>
          <a:p>
            <a:pPr marL="228600" indent="0"/>
            <a:r>
              <a:rPr lang="en-US" sz="1200" dirty="0"/>
              <a:t>[6] A. </a:t>
            </a:r>
            <a:r>
              <a:rPr lang="en-US" sz="1200" dirty="0" err="1"/>
              <a:t>Yosri</a:t>
            </a:r>
            <a:r>
              <a:rPr lang="en-US" sz="1200" dirty="0"/>
              <a:t>, M. Ghaith, and W. El-</a:t>
            </a:r>
            <a:r>
              <a:rPr lang="en-US" sz="1200" dirty="0" err="1"/>
              <a:t>Dakhakhni</a:t>
            </a:r>
            <a:r>
              <a:rPr lang="en-US" sz="1200" dirty="0"/>
              <a:t>, “Deep learning rapid flood risk predictions for climate resilience planning,” </a:t>
            </a:r>
            <a:r>
              <a:rPr lang="en-US" sz="1200" i="1" dirty="0"/>
              <a:t>Journal of Hydrology</a:t>
            </a:r>
            <a:r>
              <a:rPr lang="en-US" sz="1200" dirty="0"/>
              <a:t>, vol. 631, Mar. 2024, art. no. 130817. [Online]. Available:</a:t>
            </a:r>
            <a:br>
              <a:rPr lang="en-US" sz="1200" dirty="0"/>
            </a:br>
            <a:r>
              <a:rPr lang="en-US" sz="1200" dirty="0">
                <a:hlinkClick r:id="rId7"/>
              </a:rPr>
              <a:t>https://pdf.sciencedirectassets.com/271842/1-s2.0-S0022169423X00213/1-s2.0-S0022169424002117/main.pdf</a:t>
            </a:r>
            <a:endParaRPr lang="en-US" sz="1200" dirty="0"/>
          </a:p>
          <a:p>
            <a:pPr marL="228600" indent="0"/>
            <a:r>
              <a:rPr lang="en-US" sz="1200" dirty="0"/>
              <a:t>[7] Z. Demissie, P. Rimal, W. M. Seyoum, A. Dutta, and G. Rimmington, “Flood susceptibility mapping: Integrating machine learning and GIS for enhanced risk assessment,” </a:t>
            </a:r>
            <a:r>
              <a:rPr lang="en-US" sz="1200" i="1" dirty="0"/>
              <a:t>Applied Computing and Geosciences</a:t>
            </a:r>
            <a:r>
              <a:rPr lang="en-US" sz="1200" dirty="0"/>
              <a:t>, vol. 23, Sep. 2024, art. no. 100183. [Online]. Available:</a:t>
            </a:r>
            <a:br>
              <a:rPr lang="en-US" sz="1200" dirty="0"/>
            </a:br>
            <a:r>
              <a:rPr lang="en-US" sz="1200" dirty="0">
                <a:hlinkClick r:id="rId8"/>
              </a:rPr>
              <a:t>https://pdf.sciencedirectassets.com/320472/1-s2.0-S2590197424X00038/1-s2.0-S2590197424000302/main.pdf</a:t>
            </a:r>
            <a:endParaRPr lang="en-US" sz="1200" dirty="0"/>
          </a:p>
          <a:p>
            <a:pPr marL="228600" indent="0"/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B9027-DF9B-8710-A7D4-2D47663FF6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5" name="Google Shape;130;g300977dccdd_0_10">
            <a:extLst>
              <a:ext uri="{FF2B5EF4-FFF2-40B4-BE49-F238E27FC236}">
                <a16:creationId xmlns:a16="http://schemas.microsoft.com/office/drawing/2014/main" id="{EA5619BF-9374-EEA0-855E-3AF04A31E9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146" y="302947"/>
            <a:ext cx="8544601" cy="8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4400" dirty="0"/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F4CD9B05-1217-577A-AC73-02A3208313E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61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F05CB-0E4C-81F8-DCD3-3AFDB574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2DD4-244B-8BF3-6EFE-79F1CB78F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4530" y="1324293"/>
            <a:ext cx="9850888" cy="5915608"/>
          </a:xfrm>
        </p:spPr>
        <p:txBody>
          <a:bodyPr>
            <a:normAutofit/>
          </a:bodyPr>
          <a:lstStyle/>
          <a:p>
            <a:pPr marL="228600" indent="0"/>
            <a:r>
              <a:rPr lang="en-US" sz="1200" dirty="0"/>
              <a:t>[8] S. V. Taral, “A Comparative Review of Predictive Models for Waterborne Disease Outbreaks,” </a:t>
            </a:r>
            <a:r>
              <a:rPr lang="en-US" sz="1200" i="1" dirty="0"/>
              <a:t>International Journal of Advanced Computer Engineering and Communication Technology</a:t>
            </a:r>
            <a:r>
              <a:rPr lang="en-US" sz="1200" dirty="0"/>
              <a:t>, vol. 14, no. 1, pp. 278–286, 2025.</a:t>
            </a:r>
          </a:p>
          <a:p>
            <a:pPr marL="228600" indent="0"/>
            <a:r>
              <a:rPr lang="en-US" sz="1200" dirty="0"/>
              <a:t>[9] A. K. Siddiqi, “Devastating floods to dengue epidemic — a deadly combination for Pakistan’s public health,” </a:t>
            </a:r>
            <a:r>
              <a:rPr lang="en-US" sz="1200" i="1" dirty="0"/>
              <a:t>Annals of Medicine and Surgery</a:t>
            </a:r>
            <a:r>
              <a:rPr lang="en-US" sz="1200" dirty="0"/>
              <a:t>, vol. 85, Feb. 2024, art. no. 104561. [Online]. Available: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https://journals.lww.com/annals-of-medicine-and-surgery/_layouts/15/oaks.journals/downloadpdf.aspx?an=01845215-202402000-00039</a:t>
            </a:r>
            <a:endParaRPr lang="en-US" sz="1200" dirty="0"/>
          </a:p>
          <a:p>
            <a:pPr marL="228600" indent="0"/>
            <a:r>
              <a:rPr lang="en-US" sz="1200" dirty="0"/>
              <a:t>[10] M. Saeed </a:t>
            </a:r>
            <a:r>
              <a:rPr lang="en-US" sz="1200" i="1" dirty="0"/>
              <a:t>et al.</a:t>
            </a:r>
            <a:r>
              <a:rPr lang="en-US" sz="1200" dirty="0"/>
              <a:t>, “Flood Risk Analysis in Sindh, Pakistan: Predicting the Most Affected Tehsil Using Statistical and Machine Learning Models with Comprehensive Data,” </a:t>
            </a:r>
            <a:r>
              <a:rPr lang="en-US" sz="1200" i="1" dirty="0"/>
              <a:t>Asian Bulletin of Big Data Management</a:t>
            </a:r>
            <a:r>
              <a:rPr lang="en-US" sz="1200" dirty="0"/>
              <a:t>, vol. 4, no. 3, Aug. 2025. [Online]. Available:</a:t>
            </a:r>
            <a:br>
              <a:rPr lang="en-US" sz="1200" dirty="0"/>
            </a:br>
            <a:r>
              <a:rPr lang="en-US" sz="1200" dirty="0">
                <a:hlinkClick r:id="rId3"/>
              </a:rPr>
              <a:t>https://www.researchgate.net/publication/384989122_Flood_Risk_Analysis_in_Sindh_Pakistan_Predicting_the_Most_Affected_Tehsil_Using_Statistical_and_Machine_Learning_Models_with_Comprehensive_Data</a:t>
            </a:r>
            <a:endParaRPr lang="en-US" sz="1200" dirty="0"/>
          </a:p>
          <a:p>
            <a:pPr marL="228600" indent="0"/>
            <a:r>
              <a:rPr lang="en-US" sz="1200" dirty="0"/>
              <a:t>[11] J. Zhang, W. Guo, </a:t>
            </a:r>
            <a:r>
              <a:rPr lang="en-US" sz="1200" i="1" dirty="0"/>
              <a:t>et al.</a:t>
            </a:r>
            <a:r>
              <a:rPr lang="en-US" sz="1200" dirty="0"/>
              <a:t>, “Data-Driven Innovations in Flood Hazard Assessment with Machine Learning,” </a:t>
            </a:r>
            <a:r>
              <a:rPr lang="en-US" sz="1200" i="1" dirty="0"/>
              <a:t>Earth: Environmental Sustainability</a:t>
            </a:r>
            <a:r>
              <a:rPr lang="en-US" sz="1200" dirty="0"/>
              <a:t>, vol. 2, no. 2, Jul. 2025. [Online]. Available:</a:t>
            </a:r>
            <a:br>
              <a:rPr lang="en-US" sz="1200" dirty="0"/>
            </a:br>
            <a:r>
              <a:rPr lang="en-US" sz="1200" dirty="0">
                <a:hlinkClick r:id="rId4"/>
              </a:rPr>
              <a:t>https://www.researchgate.net/publication/395366837_Data-Driven_Innovations_in_Flood_Hazard_Assessment_with_Machine_Learning</a:t>
            </a:r>
            <a:endParaRPr lang="en-US" sz="1200" dirty="0"/>
          </a:p>
          <a:p>
            <a:pPr marL="228600" indent="0"/>
            <a:r>
              <a:rPr lang="en-US" sz="1200" dirty="0"/>
              <a:t>[12] S. Paul </a:t>
            </a:r>
            <a:r>
              <a:rPr lang="en-US" sz="1200" i="1" dirty="0"/>
              <a:t>et al.</a:t>
            </a:r>
            <a:r>
              <a:rPr lang="en-US" sz="1200" dirty="0"/>
              <a:t>, “Prediction of dengue annual incidence using seasonal climate variability in Bangladesh between 2000 and 2018,” </a:t>
            </a:r>
            <a:r>
              <a:rPr lang="en-US" sz="1200" i="1" dirty="0"/>
              <a:t>PLOS Global Public Health</a:t>
            </a:r>
            <a:r>
              <a:rPr lang="en-US" sz="1200" dirty="0"/>
              <a:t>, vol. 2, no. 5, May 2022, art. no. e0000047. [Online]. Available:</a:t>
            </a:r>
            <a:br>
              <a:rPr lang="en-US" sz="1200" dirty="0"/>
            </a:br>
            <a:r>
              <a:rPr lang="en-US" sz="1200" dirty="0">
                <a:hlinkClick r:id="rId5"/>
              </a:rPr>
              <a:t>https://journals.plos.org/globalpublichealth/article?id=10.1371/journal.pgph.0000047</a:t>
            </a:r>
            <a:endParaRPr lang="en-US" sz="1200" dirty="0"/>
          </a:p>
          <a:p>
            <a:pPr marL="228600" indent="0"/>
            <a:r>
              <a:rPr lang="en-US" sz="1200" dirty="0"/>
              <a:t>[13] O. E. Santangelo, V. Gentile, S. Pizzo, D. Giordano, and F. Cedrone, "Machine Learning and Prediction of Infectious Diseases: A Systematic Review," </a:t>
            </a:r>
            <a:r>
              <a:rPr lang="en-US" sz="1200" i="1" dirty="0"/>
              <a:t>Mach. Learn. </a:t>
            </a:r>
            <a:r>
              <a:rPr lang="en-US" sz="1200" i="1" dirty="0" err="1"/>
              <a:t>Knowl</a:t>
            </a:r>
            <a:r>
              <a:rPr lang="en-US" sz="1200" i="1" dirty="0"/>
              <a:t>. </a:t>
            </a:r>
            <a:r>
              <a:rPr lang="en-US" sz="1200" i="1" dirty="0" err="1"/>
              <a:t>Extr</a:t>
            </a:r>
            <a:r>
              <a:rPr lang="en-US" sz="1200" i="1" dirty="0"/>
              <a:t>.</a:t>
            </a:r>
            <a:r>
              <a:rPr lang="en-US" sz="1200" dirty="0"/>
              <a:t>, vol. 5, no. 1, p. 175, 2023, </a:t>
            </a:r>
            <a:r>
              <a:rPr lang="en-US" sz="1200" dirty="0" err="1"/>
              <a:t>doi</a:t>
            </a:r>
            <a:r>
              <a:rPr lang="en-US" sz="1200" dirty="0"/>
              <a:t>: 10.3390/make5010013. [Online]. Available: </a:t>
            </a:r>
            <a:r>
              <a:rPr lang="en-US" sz="1200" dirty="0">
                <a:hlinkClick r:id="rId6"/>
              </a:rPr>
              <a:t>https://www.mdpi.com/2504-4990/5/1/13</a:t>
            </a:r>
            <a:endParaRPr lang="en-US" sz="1200" dirty="0"/>
          </a:p>
          <a:p>
            <a:pPr marL="228600" indent="0"/>
            <a:r>
              <a:rPr lang="en-US" sz="1200" dirty="0"/>
              <a:t>[14] S. V. Taral, "A Comparative Review of Predictive Models for Waterborne Disease Outbreaks," </a:t>
            </a:r>
            <a:r>
              <a:rPr lang="en-US" sz="1200" i="1" dirty="0"/>
              <a:t>Int. J. Adv. Comput. Eng. Commun. Technol.</a:t>
            </a:r>
            <a:r>
              <a:rPr lang="en-US" sz="1200" dirty="0"/>
              <a:t>, vol. 14, no. 1, pp. 278–286, 2025. [Online]. Available: </a:t>
            </a:r>
            <a:r>
              <a:rPr lang="en-US" sz="1200" dirty="0">
                <a:hlinkClick r:id="rId7"/>
              </a:rPr>
              <a:t>https://journals.mriindia.com/index.php/ijacect/article/view/455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29C77-66D3-E465-881E-ABC2C2F027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5" name="Google Shape;130;g300977dccdd_0_10">
            <a:extLst>
              <a:ext uri="{FF2B5EF4-FFF2-40B4-BE49-F238E27FC236}">
                <a16:creationId xmlns:a16="http://schemas.microsoft.com/office/drawing/2014/main" id="{EB78947E-EDF6-9962-661B-25E0BBF205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369" y="292767"/>
            <a:ext cx="8544601" cy="8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400" dirty="0"/>
          </a:p>
        </p:txBody>
      </p:sp>
      <p:pic>
        <p:nvPicPr>
          <p:cNvPr id="7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C7A4822D-E0CE-CD6C-BAEE-4EAEF785700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32671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ModernTimeband"/>
  <p:tag name="OTLTIMEBANDSHAPEHEIGHT" val="30"/>
  <p:tag name="OTLTIMEBANDSHAPEPADDINGLEFT" val="13"/>
  <p:tag name="OTLTIMEBANDCULTUREINFO" val="en-US"/>
  <p:tag name="OTLTIMEBANDTHREEDEFFECTS" val="None"/>
  <p:tag name="OTLTIMEBANDAUTODATERANGE" val="True"/>
  <p:tag name="OTLTIMEBANDSTARTDATE" val="0001-01-01T00:00:00.0000000"/>
  <p:tag name="OTLTIMEBANDENDDATE" val="2024-05-26T23:59:00.0000000"/>
  <p:tag name="OTLTIMEBANDWORKINGDAYS" val="Standard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True"/>
  <p:tag name="OTLTIMEBANDSCALEMARKING" val="None"/>
  <p:tag name="OTLRIGHTENDCAPSMARGINRIGHT" val="20"/>
  <p:tag name="OTLLEFTENDCAPSMARGINLEFT" val="39.5066666666667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PACINGABOVEFORSWLANDTASKS" val="5"/>
  <p:tag name="OTLTIMEBANDSPACINGBELOWFORSWLANDTASKS" val="5"/>
  <p:tag name="OTLTIMEBANDQUICKPOSITION" val="Custo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3-09-19T00:00:00.0000000Z"/>
  <p:tag name="OTLENDDATE" val="2023-10-05T23:59:00.0000000Z"/>
  <p:tag name="OTLDURATIONFORMAT" val="day"/>
  <p:tag name="OTLSPACING" val="5"/>
  <p:tag name="OTLSHAPETHICKNESSTYPE" val="Regula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3-10-01T00:00:00.0000000Z"/>
  <p:tag name="OTLENDDATE" val="2023-10-22T23:59:00.0000000Z"/>
  <p:tag name="OTLDURATIONFORMAT" val="day"/>
  <p:tag name="OTLSPACING" val="5"/>
  <p:tag name="OTLSHAPETHICKNESSTYPE" val="Regula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3-10-23T00:00:00.0000000Z"/>
  <p:tag name="OTLENDDATE" val="2023-11-12T23:59:00.0000000Z"/>
  <p:tag name="OTLDURATIONFORMAT" val="day"/>
  <p:tag name="OTLSPACING" val="5"/>
  <p:tag name="OTLSHAPETHICKNESSTYPE" val="Regula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4-01-22T00:00:00.0000000Z"/>
  <p:tag name="OTLENDDATE" val="2024-02-28T23:59:00.0000000Z"/>
  <p:tag name="OTLDURATIONFORMAT" val="day"/>
  <p:tag name="OTLSPACING" val="5"/>
  <p:tag name="OTLSHAPETHICKNESSTYPE" val="Regula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4-02-19T00:00:00.0000000Z"/>
  <p:tag name="OTLENDDATE" val="2024-03-31T23:59:00.0000000Z"/>
  <p:tag name="OTLDURATIONFORMAT" val="day"/>
  <p:tag name="OTLSPACING" val="5"/>
  <p:tag name="OTLSHAPETHICKNESSTYPE" val="Regula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4-04-01T00:00:00.0000000Z"/>
  <p:tag name="OTLENDDATE" val="2024-05-26T23:59:00.0000000Z"/>
  <p:tag name="OTLDURATIONFORMAT" val="day"/>
  <p:tag name="OTLSPACING" val="5"/>
  <p:tag name="OTLSHAPETHICKNESSTYPE" val="Regula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ck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Belo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3-10-23T00:00:00.0000000Z"/>
  <p:tag name="OTLENDDATE" val="2023-11-12T23:59:00.0000000Z"/>
  <p:tag name="OTLDURATIONFORMAT" val="day"/>
  <p:tag name="OTLSPACING" val="5"/>
  <p:tag name="OTLSHAPETHICKNESSTYPE" val="Regula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4-01-22T00:00:00.0000000Z"/>
  <p:tag name="OTLENDDATE" val="2024-02-28T23:59:00.0000000Z"/>
  <p:tag name="OTLDURATIONFORMAT" val="day"/>
  <p:tag name="OTLSPACING" val="5"/>
  <p:tag name="OTLSHAPETHICKNESSTYPE" val="Regula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2588</TotalTime>
  <Words>3327</Words>
  <Application>Microsoft Office PowerPoint</Application>
  <PresentationFormat>Widescreen</PresentationFormat>
  <Paragraphs>370</Paragraphs>
  <Slides>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Courier New</vt:lpstr>
      <vt:lpstr>Century Schoolbook</vt:lpstr>
      <vt:lpstr>Calibri</vt:lpstr>
      <vt:lpstr>Times New Roman</vt:lpstr>
      <vt:lpstr>Arial</vt:lpstr>
      <vt:lpstr>View</vt:lpstr>
      <vt:lpstr>View</vt:lpstr>
      <vt:lpstr>AI-Driven Disease Risk Tracker For Post-Flood Areas</vt:lpstr>
      <vt:lpstr>Introduction</vt:lpstr>
      <vt:lpstr>Problem Statement</vt:lpstr>
      <vt:lpstr>Problem Solution</vt:lpstr>
      <vt:lpstr>Identified Gap</vt:lpstr>
      <vt:lpstr>Literature Review</vt:lpstr>
      <vt:lpstr>Literature Review</vt:lpstr>
      <vt:lpstr>Use Case Diagram</vt:lpstr>
      <vt:lpstr>Activity Diagram</vt:lpstr>
      <vt:lpstr>System Architecture Diagram</vt:lpstr>
      <vt:lpstr>Sequence Diagram</vt:lpstr>
      <vt:lpstr>Software Development Plan</vt:lpstr>
      <vt:lpstr>Software Development Plan</vt:lpstr>
      <vt:lpstr>Datasets</vt:lpstr>
      <vt:lpstr>Datasets</vt:lpstr>
      <vt:lpstr>Datasets</vt:lpstr>
      <vt:lpstr>Data Acquisition</vt:lpstr>
      <vt:lpstr>Data Processing</vt:lpstr>
      <vt:lpstr>Model Architecture (CatBoost)</vt:lpstr>
      <vt:lpstr>Training Pipeline</vt:lpstr>
      <vt:lpstr>Training Pipeline</vt:lpstr>
      <vt:lpstr>Results</vt:lpstr>
      <vt:lpstr>Testing Results</vt:lpstr>
      <vt:lpstr>Frontend UI</vt:lpstr>
      <vt:lpstr>Frontend UI</vt:lpstr>
      <vt:lpstr>Objectives</vt:lpstr>
      <vt:lpstr>Gantt Chart</vt:lpstr>
      <vt:lpstr>Teamwork FYP-1</vt:lpstr>
      <vt:lpstr>GitHub Link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zeshan khan</dc:creator>
  <cp:lastModifiedBy>muhammad muzammil</cp:lastModifiedBy>
  <cp:revision>40</cp:revision>
  <dcterms:created xsi:type="dcterms:W3CDTF">2022-09-07T06:12:25Z</dcterms:created>
  <dcterms:modified xsi:type="dcterms:W3CDTF">2026-03-04T16:53:32Z</dcterms:modified>
</cp:coreProperties>
</file>